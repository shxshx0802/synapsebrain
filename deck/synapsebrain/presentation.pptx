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jp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bg-mask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D1117">
                  <a:alpha val="94118"/>
                </a:srgbClr>
              </a:gs>
              <a:gs pos="52000">
                <a:srgbClr val="0D1117">
                  <a:alpha val="61961"/>
                </a:srgbClr>
              </a:gs>
              <a:gs pos="100000">
                <a:srgbClr val="0D1117">
                  <a:alpha val="2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914400" y="1752600"/>
            <a:ext cx="8128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6200" noProof="1" b="1">
                <a:solidFill>
                  <a:srgbClr val="F2F7F7"/>
                </a:solidFill>
                <a:latin typeface="Noto Sans SC"/>
                <a:ea typeface="Noto Sans SC"/>
              </a:rPr>
              <a:t>SynapseBrain</a:t>
            </a:r>
            <a:endParaRPr lang="en-US" sz="6200" noProof="1"/>
          </a:p>
        </p:txBody>
      </p:sp>
      <p:sp>
        <p:nvSpPr>
          <p:cNvPr id="5" name="subtitle"/>
          <p:cNvSpPr txBox="1"/>
          <p:nvPr/>
        </p:nvSpPr>
        <p:spPr>
          <a:xfrm>
            <a:off x="990600" y="3200400"/>
            <a:ext cx="787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>
                <a:solidFill>
                  <a:srgbClr val="5EEAD4"/>
                </a:solidFill>
                <a:latin typeface="Noto Sans SC"/>
                <a:ea typeface="Noto Sans SC"/>
              </a:rPr>
              <a:t>多 AI 协同讨论画布</a:t>
            </a:r>
            <a:endParaRPr lang="en-US" sz="3000" noProof="1"/>
          </a:p>
        </p:txBody>
      </p:sp>
      <p:sp>
        <p:nvSpPr>
          <p:cNvPr id="6" name="tagline"/>
          <p:cNvSpPr txBox="1"/>
          <p:nvPr/>
        </p:nvSpPr>
        <p:spPr>
          <a:xfrm>
            <a:off x="990600" y="4191000"/>
            <a:ext cx="8890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33000"/>
              </a:lnSpc>
            </a:pPr>
            <a:r>
              <a:rPr lang="en-US" sz="1700" noProof="1">
                <a:solidFill>
                  <a:srgbClr val="C6D2D2"/>
                </a:solidFill>
                <a:latin typeface="Noto Sans SC"/>
                <a:ea typeface="Noto Sans SC"/>
              </a:rPr>
              <a:t>多 AI 群智讨论 · 关键球可视化 · 手势语音控场 · 额度治理</a:t>
            </a:r>
            <a:endParaRPr lang="en-US" sz="1700" noProof="1"/>
          </a:p>
        </p:txBody>
      </p:sp>
      <p:cxnSp>
        <p:nvCxnSpPr>
          <p:cNvPr id="7" name="line"/>
          <p:cNvCxnSpPr/>
          <p:nvPr/>
        </p:nvCxnSpPr>
        <p:spPr>
          <a:xfrm>
            <a:off x="990600" y="5549900"/>
            <a:ext cx="1752600" cy="12700"/>
          </a:xfrm>
          <a:prstGeom prst="straightConnector1">
            <a:avLst/>
          </a:prstGeom>
          <a:ln w="25400">
            <a:solidFill>
              <a:srgbClr val="5EEAD4"/>
            </a:solidFill>
          </a:ln>
        </p:spPr>
      </p:cxnSp>
      <p:sp>
        <p:nvSpPr>
          <p:cNvPr id="8" name="footer"/>
          <p:cNvSpPr txBox="1"/>
          <p:nvPr/>
        </p:nvSpPr>
        <p:spPr>
          <a:xfrm>
            <a:off x="990600" y="5816600"/>
            <a:ext cx="711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>
                <a:solidFill>
                  <a:srgbClr val="8BA3A8"/>
                </a:solidFill>
                <a:latin typeface="Inter"/>
                <a:ea typeface="Inter"/>
              </a:rPr>
              <a:t>产品总结 · 功能与技术实现 · 2026</a:t>
            </a:r>
            <a:endParaRPr lang="en-US" sz="13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914400" y="6096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200" noProof="1" i="0">
                <a:solidFill>
                  <a:srgbClr val="8BA3A8"/>
                </a:solidFill>
                <a:latin typeface="Inter"/>
                <a:ea typeface="Inter"/>
              </a:rPr>
              <a:t>POSITIONING · 02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914400" y="1117600"/>
            <a:ext cx="1041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200" noProof="1" b="1">
                <a:solidFill>
                  <a:srgbClr val="F2F7F7"/>
                </a:solidFill>
                <a:latin typeface="Noto Sans SC"/>
                <a:ea typeface="Noto Sans SC"/>
              </a:rPr>
              <a:t>把多 AI 讨论、关键洞察与隔空操控，装进一块画布</a:t>
            </a:r>
            <a:endParaRPr lang="en-US" sz="3200" noProof="1"/>
          </a:p>
        </p:txBody>
      </p:sp>
      <p:sp>
        <p:nvSpPr>
          <p:cNvPr id="4" name="body"/>
          <p:cNvSpPr txBox="1"/>
          <p:nvPr/>
        </p:nvSpPr>
        <p:spPr>
          <a:xfrm>
            <a:off x="914400" y="2286000"/>
            <a:ext cx="9906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50000"/>
              </a:lnSpc>
            </a:pPr>
            <a:r>
              <a:rPr lang="en-US" sz="1600" noProof="1">
                <a:solidFill>
                  <a:srgbClr val="C6D2D2"/>
                </a:solidFill>
                <a:latin typeface="Noto Sans SC"/>
                <a:ea typeface="Noto Sans SC"/>
              </a:rPr>
              <a:t>传统会议工具里，AI 是孤立的问答机器：一次只有一个回答，讨论与文档分离，结论沉在聊天记录里找不到。SynapseBrain 把多个 AI 角色请进同一块画布，围绕议题分方向并行讨论，把讨论实时提炼成可拖拽、可融合的关键球；你可以用鼠标、手势、语音随时介入与控场。</a:t>
            </a:r>
            <a:endParaRPr lang="en-US" sz="1600" noProof="1"/>
          </a:p>
        </p:txBody>
      </p:sp>
      <p:cxnSp>
        <p:nvCxnSpPr>
          <p:cNvPr id="5" name="formula-line"/>
          <p:cNvCxnSpPr/>
          <p:nvPr/>
        </p:nvCxnSpPr>
        <p:spPr>
          <a:xfrm>
            <a:off x="914400" y="4521200"/>
            <a:ext cx="10363200" cy="12700"/>
          </a:xfrm>
          <a:prstGeom prst="straightConnector1">
            <a:avLst/>
          </a:prstGeom>
          <a:ln w="12700">
            <a:solidFill>
              <a:srgbClr val="2A3A3A"/>
            </a:solidFill>
          </a:ln>
        </p:spPr>
      </p:cxnSp>
      <p:sp>
        <p:nvSpPr>
          <p:cNvPr id="6" name="formula"/>
          <p:cNvSpPr txBox="1"/>
          <p:nvPr/>
        </p:nvSpPr>
        <p:spPr>
          <a:xfrm>
            <a:off x="914400" y="4800600"/>
            <a:ext cx="10363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100" noProof="1" b="1">
                <a:solidFill>
                  <a:srgbClr val="5EEAD4"/>
                </a:solidFill>
                <a:latin typeface="Noto Sans SC"/>
                <a:ea typeface="Noto Sans SC"/>
              </a:rPr>
              <a:t>SynapseBrain = 群智讨论 × 关键球画布 × 手势语音控场 × 额度治理</a:t>
            </a:r>
            <a:endParaRPr lang="en-US" sz="2100" noProof="1"/>
          </a:p>
        </p:txBody>
      </p:sp>
      <p:sp>
        <p:nvSpPr>
          <p:cNvPr id="7" name="note"/>
          <p:cNvSpPr txBox="1"/>
          <p:nvPr/>
        </p:nvSpPr>
        <p:spPr>
          <a:xfrm>
            <a:off x="914400" y="5511800"/>
            <a:ext cx="10363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400" noProof="1" i="0">
                <a:solidFill>
                  <a:srgbClr val="8BA3A8"/>
                </a:solidFill>
                <a:latin typeface="Noto Sans SC"/>
                <a:ea typeface="Noto Sans SC"/>
              </a:rPr>
              <a:t>纯软件实现 · 浏览器打开即用 · 演示模式零 API 消耗</a:t>
            </a:r>
            <a:endParaRPr lang="en-US" sz="14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914400" y="6096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200" noProof="1" i="0">
                <a:solidFill>
                  <a:srgbClr val="8BA3A8"/>
                </a:solidFill>
                <a:latin typeface="Inter"/>
                <a:ea typeface="Inter"/>
              </a:rPr>
              <a:t>CAPABILITIES · 03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914400" y="1117600"/>
            <a:ext cx="965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200" noProof="1" b="1">
                <a:solidFill>
                  <a:srgbClr val="F2F7F7"/>
                </a:solidFill>
                <a:latin typeface="Noto Sans SC"/>
                <a:ea typeface="Noto Sans SC"/>
              </a:rPr>
              <a:t>四大能力，串起一场高效会议</a:t>
            </a:r>
            <a:endParaRPr lang="en-US" sz="3200" noProof="1"/>
          </a:p>
        </p:txBody>
      </p:sp>
      <p:sp>
        <p:nvSpPr>
          <p:cNvPr id="4" name="n1"/>
          <p:cNvSpPr txBox="1"/>
          <p:nvPr/>
        </p:nvSpPr>
        <p:spPr>
          <a:xfrm>
            <a:off x="914400" y="2159000"/>
            <a:ext cx="965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5EEAD4"/>
                </a:solidFill>
                <a:latin typeface="Inter"/>
                <a:ea typeface="Inter"/>
              </a:rPr>
              <a:t>01</a:t>
            </a:r>
            <a:endParaRPr lang="en-US" sz="3000" noProof="1"/>
          </a:p>
        </p:txBody>
      </p:sp>
      <p:cxnSp>
        <p:nvCxnSpPr>
          <p:cNvPr id="5" name="l1"/>
          <p:cNvCxnSpPr/>
          <p:nvPr/>
        </p:nvCxnSpPr>
        <p:spPr>
          <a:xfrm rot="5292600">
            <a:off x="1803400" y="2451100"/>
            <a:ext cx="406400" cy="12700"/>
          </a:xfrm>
          <a:prstGeom prst="straightConnector1">
            <a:avLst/>
          </a:prstGeom>
          <a:ln w="12700">
            <a:solidFill>
              <a:srgbClr val="2A3A3A"/>
            </a:solidFill>
          </a:ln>
        </p:spPr>
      </p:cxnSp>
      <p:sp>
        <p:nvSpPr>
          <p:cNvPr id="6" name="t1"/>
          <p:cNvSpPr txBox="1"/>
          <p:nvPr/>
        </p:nvSpPr>
        <p:spPr>
          <a:xfrm>
            <a:off x="2286000" y="2108200"/>
            <a:ext cx="381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100" noProof="1" b="1" i="0">
                <a:solidFill>
                  <a:srgbClr val="F2F7F7"/>
                </a:solidFill>
                <a:latin typeface="Noto Sans SC"/>
                <a:ea typeface="Noto Sans SC"/>
              </a:rPr>
              <a:t>群智讨论</a:t>
            </a:r>
            <a:endParaRPr lang="en-US" sz="2100" noProof="1"/>
          </a:p>
        </p:txBody>
      </p:sp>
      <p:sp>
        <p:nvSpPr>
          <p:cNvPr id="7" name="d1"/>
          <p:cNvSpPr txBox="1"/>
          <p:nvPr/>
        </p:nvSpPr>
        <p:spPr>
          <a:xfrm>
            <a:off x="2286000" y="26162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400" noProof="1" i="0">
                <a:solidFill>
                  <a:srgbClr val="8BA3A8"/>
                </a:solidFill>
                <a:latin typeface="Noto Sans SC"/>
                <a:ea typeface="Noto Sans SC"/>
              </a:rPr>
              <a:t>多个 AI 角色并行参与，从技术、商业、风险等方向讨论议题，观点相互碰撞</a:t>
            </a:r>
            <a:endParaRPr lang="en-US" sz="1400" noProof="1"/>
          </a:p>
        </p:txBody>
      </p:sp>
      <p:sp>
        <p:nvSpPr>
          <p:cNvPr id="8" name="n2"/>
          <p:cNvSpPr txBox="1"/>
          <p:nvPr/>
        </p:nvSpPr>
        <p:spPr>
          <a:xfrm>
            <a:off x="914400" y="3098800"/>
            <a:ext cx="965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5EEAD4"/>
                </a:solidFill>
                <a:latin typeface="Inter"/>
                <a:ea typeface="Inter"/>
              </a:rPr>
              <a:t>02</a:t>
            </a:r>
            <a:endParaRPr lang="en-US" sz="3000" noProof="1"/>
          </a:p>
        </p:txBody>
      </p:sp>
      <p:cxnSp>
        <p:nvCxnSpPr>
          <p:cNvPr id="9" name="l2"/>
          <p:cNvCxnSpPr/>
          <p:nvPr/>
        </p:nvCxnSpPr>
        <p:spPr>
          <a:xfrm rot="5292600">
            <a:off x="1803400" y="3390900"/>
            <a:ext cx="406400" cy="12700"/>
          </a:xfrm>
          <a:prstGeom prst="straightConnector1">
            <a:avLst/>
          </a:prstGeom>
          <a:ln w="12700">
            <a:solidFill>
              <a:srgbClr val="2A3A3A"/>
            </a:solidFill>
          </a:ln>
        </p:spPr>
      </p:cxnSp>
      <p:sp>
        <p:nvSpPr>
          <p:cNvPr id="10" name="t2"/>
          <p:cNvSpPr txBox="1"/>
          <p:nvPr/>
        </p:nvSpPr>
        <p:spPr>
          <a:xfrm>
            <a:off x="2286000" y="3048000"/>
            <a:ext cx="381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100" noProof="1" b="1" i="0">
                <a:solidFill>
                  <a:srgbClr val="F2F7F7"/>
                </a:solidFill>
                <a:latin typeface="Noto Sans SC"/>
                <a:ea typeface="Noto Sans SC"/>
              </a:rPr>
              <a:t>关键球画布</a:t>
            </a:r>
            <a:endParaRPr lang="en-US" sz="2100" noProof="1"/>
          </a:p>
        </p:txBody>
      </p:sp>
      <p:sp>
        <p:nvSpPr>
          <p:cNvPr id="11" name="d2"/>
          <p:cNvSpPr txBox="1"/>
          <p:nvPr/>
        </p:nvSpPr>
        <p:spPr>
          <a:xfrm>
            <a:off x="2286000" y="35560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400" noProof="1" i="0">
                <a:solidFill>
                  <a:srgbClr val="8BA3A8"/>
                </a:solidFill>
                <a:latin typeface="Noto Sans SC"/>
                <a:ea typeface="Noto Sans SC"/>
              </a:rPr>
              <a:t>讨论实时提炼为关键球：可拖拽、可融合、可缩放，靠近即融球并给出 AI 关系解读</a:t>
            </a:r>
            <a:endParaRPr lang="en-US" sz="1400" noProof="1"/>
          </a:p>
        </p:txBody>
      </p:sp>
      <p:sp>
        <p:nvSpPr>
          <p:cNvPr id="12" name="n3"/>
          <p:cNvSpPr txBox="1"/>
          <p:nvPr/>
        </p:nvSpPr>
        <p:spPr>
          <a:xfrm>
            <a:off x="914400" y="4038600"/>
            <a:ext cx="965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5EEAD4"/>
                </a:solidFill>
                <a:latin typeface="Inter"/>
                <a:ea typeface="Inter"/>
              </a:rPr>
              <a:t>03</a:t>
            </a:r>
            <a:endParaRPr lang="en-US" sz="3000" noProof="1"/>
          </a:p>
        </p:txBody>
      </p:sp>
      <p:cxnSp>
        <p:nvCxnSpPr>
          <p:cNvPr id="13" name="l3"/>
          <p:cNvCxnSpPr/>
          <p:nvPr/>
        </p:nvCxnSpPr>
        <p:spPr>
          <a:xfrm rot="5292600">
            <a:off x="1803400" y="4330700"/>
            <a:ext cx="406400" cy="12700"/>
          </a:xfrm>
          <a:prstGeom prst="straightConnector1">
            <a:avLst/>
          </a:prstGeom>
          <a:ln w="12700">
            <a:solidFill>
              <a:srgbClr val="2A3A3A"/>
            </a:solidFill>
          </a:ln>
        </p:spPr>
      </p:cxnSp>
      <p:sp>
        <p:nvSpPr>
          <p:cNvPr id="14" name="t3"/>
          <p:cNvSpPr txBox="1"/>
          <p:nvPr/>
        </p:nvSpPr>
        <p:spPr>
          <a:xfrm>
            <a:off x="2286000" y="3987800"/>
            <a:ext cx="381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100" noProof="1" b="1" i="0">
                <a:solidFill>
                  <a:srgbClr val="F2F7F7"/>
                </a:solidFill>
                <a:latin typeface="Noto Sans SC"/>
                <a:ea typeface="Noto Sans SC"/>
              </a:rPr>
              <a:t>手势语音控场</a:t>
            </a:r>
            <a:endParaRPr lang="en-US" sz="2100" noProof="1"/>
          </a:p>
        </p:txBody>
      </p:sp>
      <p:sp>
        <p:nvSpPr>
          <p:cNvPr id="15" name="d3"/>
          <p:cNvSpPr txBox="1"/>
          <p:nvPr/>
        </p:nvSpPr>
        <p:spPr>
          <a:xfrm>
            <a:off x="2286000" y="44958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400" noProof="1" i="0">
                <a:solidFill>
                  <a:srgbClr val="8BA3A8"/>
                </a:solidFill>
                <a:latin typeface="Noto Sans SC"/>
                <a:ea typeface="Noto Sans SC"/>
              </a:rPr>
              <a:t>摄像头识别手势隔空操控画布，「小K」唤醒词语音插话与控场指令，全程不必碰键鼠</a:t>
            </a:r>
            <a:endParaRPr lang="en-US" sz="1400" noProof="1"/>
          </a:p>
        </p:txBody>
      </p:sp>
      <p:sp>
        <p:nvSpPr>
          <p:cNvPr id="16" name="n4"/>
          <p:cNvSpPr txBox="1"/>
          <p:nvPr/>
        </p:nvSpPr>
        <p:spPr>
          <a:xfrm>
            <a:off x="914400" y="4978400"/>
            <a:ext cx="965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5EEAD4"/>
                </a:solidFill>
                <a:latin typeface="Inter"/>
                <a:ea typeface="Inter"/>
              </a:rPr>
              <a:t>04</a:t>
            </a:r>
            <a:endParaRPr lang="en-US" sz="3000" noProof="1"/>
          </a:p>
        </p:txBody>
      </p:sp>
      <p:cxnSp>
        <p:nvCxnSpPr>
          <p:cNvPr id="17" name="l4"/>
          <p:cNvCxnSpPr/>
          <p:nvPr/>
        </p:nvCxnSpPr>
        <p:spPr>
          <a:xfrm rot="5292600">
            <a:off x="1803400" y="5270500"/>
            <a:ext cx="406400" cy="12700"/>
          </a:xfrm>
          <a:prstGeom prst="straightConnector1">
            <a:avLst/>
          </a:prstGeom>
          <a:ln w="12700">
            <a:solidFill>
              <a:srgbClr val="2A3A3A"/>
            </a:solidFill>
          </a:ln>
        </p:spPr>
      </p:cxnSp>
      <p:sp>
        <p:nvSpPr>
          <p:cNvPr id="18" name="t4"/>
          <p:cNvSpPr txBox="1"/>
          <p:nvPr/>
        </p:nvSpPr>
        <p:spPr>
          <a:xfrm>
            <a:off x="2286000" y="4927600"/>
            <a:ext cx="406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100" noProof="1" b="1" i="0">
                <a:solidFill>
                  <a:srgbClr val="F2F7F7"/>
                </a:solidFill>
                <a:latin typeface="Noto Sans SC"/>
                <a:ea typeface="Noto Sans SC"/>
              </a:rPr>
              <a:t>结论收敛与报告</a:t>
            </a:r>
            <a:endParaRPr lang="en-US" sz="2100" noProof="1"/>
          </a:p>
        </p:txBody>
      </p:sp>
      <p:sp>
        <p:nvSpPr>
          <p:cNvPr id="19" name="d4"/>
          <p:cNvSpPr txBox="1"/>
          <p:nvPr/>
        </p:nvSpPr>
        <p:spPr>
          <a:xfrm>
            <a:off x="2286000" y="54356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400" noProof="1" i="0">
                <a:solidFill>
                  <a:srgbClr val="8BA3A8"/>
                </a:solidFill>
                <a:latin typeface="Noto Sans SC"/>
                <a:ea typeface="Noto Sans SC"/>
              </a:rPr>
              <a:t>相近关键球自动聚成结论卡片并实时刷新，一键导出 Markdown 讨论报告</a:t>
            </a:r>
            <a:endParaRPr lang="en-US" sz="14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914400" y="5588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200" noProof="1" i="0">
                <a:solidFill>
                  <a:srgbClr val="8BA3A8"/>
                </a:solidFill>
                <a:latin typeface="Inter"/>
                <a:ea typeface="Inter"/>
              </a:rPr>
              <a:t>ENGINE · 04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9144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F2F7F7"/>
                </a:solidFill>
                <a:latin typeface="Noto Sans SC"/>
                <a:ea typeface="Noto Sans SC"/>
              </a:rPr>
              <a:t>讨论引擎：多 AI 分工与额度治理</a:t>
            </a:r>
            <a:endParaRPr lang="en-US" sz="3000" noProof="1"/>
          </a:p>
        </p:txBody>
      </p:sp>
      <p:sp>
        <p:nvSpPr>
          <p:cNvPr id="4" name="n1"/>
          <p:cNvSpPr txBox="1"/>
          <p:nvPr/>
        </p:nvSpPr>
        <p:spPr>
          <a:xfrm>
            <a:off x="914400" y="1905000"/>
            <a:ext cx="965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5EEAD4"/>
                </a:solidFill>
                <a:latin typeface="Inter"/>
                <a:ea typeface="Inter"/>
              </a:rPr>
              <a:t>01</a:t>
            </a:r>
            <a:endParaRPr lang="en-US" sz="3000" noProof="1"/>
          </a:p>
        </p:txBody>
      </p:sp>
      <p:sp>
        <p:nvSpPr>
          <p:cNvPr id="5" name="t1"/>
          <p:cNvSpPr txBox="1"/>
          <p:nvPr/>
        </p:nvSpPr>
        <p:spPr>
          <a:xfrm>
            <a:off x="2286000" y="1854200"/>
            <a:ext cx="406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100" noProof="1" b="1" i="0">
                <a:solidFill>
                  <a:srgbClr val="F2F7F7"/>
                </a:solidFill>
                <a:latin typeface="Noto Sans SC"/>
                <a:ea typeface="Noto Sans SC"/>
              </a:rPr>
              <a:t>多角色并行分工</a:t>
            </a:r>
            <a:endParaRPr lang="en-US" sz="2100" noProof="1"/>
          </a:p>
        </p:txBody>
      </p:sp>
      <p:sp>
        <p:nvSpPr>
          <p:cNvPr id="6" name="d1"/>
          <p:cNvSpPr txBox="1"/>
          <p:nvPr/>
        </p:nvSpPr>
        <p:spPr>
          <a:xfrm>
            <a:off x="2286000" y="23622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400" noProof="1" i="0">
                <a:solidFill>
                  <a:srgbClr val="8BA3A8"/>
                </a:solidFill>
                <a:latin typeface="Noto Sans SC"/>
                <a:ea typeface="Noto Sans SC"/>
              </a:rPr>
              <a:t>每个 AI 有独立方向与人设，引擎每 3 秒驱动一轮发言，人类插话时相关方向优先回应</a:t>
            </a:r>
            <a:endParaRPr lang="en-US" sz="1400" noProof="1"/>
          </a:p>
        </p:txBody>
      </p:sp>
      <p:sp>
        <p:nvSpPr>
          <p:cNvPr id="7" name="n2"/>
          <p:cNvSpPr txBox="1"/>
          <p:nvPr/>
        </p:nvSpPr>
        <p:spPr>
          <a:xfrm>
            <a:off x="914400" y="2997200"/>
            <a:ext cx="965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5EEAD4"/>
                </a:solidFill>
                <a:latin typeface="Inter"/>
                <a:ea typeface="Inter"/>
              </a:rPr>
              <a:t>02</a:t>
            </a:r>
            <a:endParaRPr lang="en-US" sz="3000" noProof="1"/>
          </a:p>
        </p:txBody>
      </p:sp>
      <p:sp>
        <p:nvSpPr>
          <p:cNvPr id="8" name="t2"/>
          <p:cNvSpPr txBox="1"/>
          <p:nvPr/>
        </p:nvSpPr>
        <p:spPr>
          <a:xfrm>
            <a:off x="2286000" y="2946400"/>
            <a:ext cx="406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100" noProof="1" b="1" i="0">
                <a:solidFill>
                  <a:srgbClr val="F2F7F7"/>
                </a:solidFill>
                <a:latin typeface="Noto Sans SC"/>
                <a:ea typeface="Noto Sans SC"/>
              </a:rPr>
              <a:t>token 额度治理</a:t>
            </a:r>
            <a:endParaRPr lang="en-US" sz="2100" noProof="1"/>
          </a:p>
        </p:txBody>
      </p:sp>
      <p:sp>
        <p:nvSpPr>
          <p:cNvPr id="9" name="d2"/>
          <p:cNvSpPr txBox="1"/>
          <p:nvPr/>
        </p:nvSpPr>
        <p:spPr>
          <a:xfrm>
            <a:off x="2286000" y="34544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400" noProof="1" i="0">
                <a:solidFill>
                  <a:srgbClr val="8BA3A8"/>
                </a:solidFill>
                <a:latin typeface="Noto Sans SC"/>
                <a:ea typeface="Noto Sans SC"/>
              </a:rPr>
              <a:t>发言即扣费、额度低于 20% 自动降档短答、用尽进入「待批准」——消耗全程可控可见</a:t>
            </a:r>
            <a:endParaRPr lang="en-US" sz="1400" noProof="1"/>
          </a:p>
        </p:txBody>
      </p:sp>
      <p:sp>
        <p:nvSpPr>
          <p:cNvPr id="10" name="n3"/>
          <p:cNvSpPr txBox="1"/>
          <p:nvPr/>
        </p:nvSpPr>
        <p:spPr>
          <a:xfrm>
            <a:off x="914400" y="4089400"/>
            <a:ext cx="965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5EEAD4"/>
                </a:solidFill>
                <a:latin typeface="Inter"/>
                <a:ea typeface="Inter"/>
              </a:rPr>
              <a:t>03</a:t>
            </a:r>
            <a:endParaRPr lang="en-US" sz="3000" noProof="1"/>
          </a:p>
        </p:txBody>
      </p:sp>
      <p:sp>
        <p:nvSpPr>
          <p:cNvPr id="11" name="t3"/>
          <p:cNvSpPr txBox="1"/>
          <p:nvPr/>
        </p:nvSpPr>
        <p:spPr>
          <a:xfrm>
            <a:off x="2286000" y="4038600"/>
            <a:ext cx="406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100" noProof="1" b="1" i="0">
                <a:solidFill>
                  <a:srgbClr val="F2F7F7"/>
                </a:solidFill>
                <a:latin typeface="Noto Sans SC"/>
                <a:ea typeface="Noto Sans SC"/>
              </a:rPr>
              <a:t>AI 额度调度官</a:t>
            </a:r>
            <a:endParaRPr lang="en-US" sz="2100" noProof="1"/>
          </a:p>
        </p:txBody>
      </p:sp>
      <p:sp>
        <p:nvSpPr>
          <p:cNvPr id="12" name="d3"/>
          <p:cNvSpPr txBox="1"/>
          <p:nvPr/>
        </p:nvSpPr>
        <p:spPr>
          <a:xfrm>
            <a:off x="2286000" y="45466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400" noProof="1" i="0">
                <a:solidFill>
                  <a:srgbClr val="8BA3A8"/>
                </a:solidFill>
                <a:latin typeface="Noto Sans SC"/>
                <a:ea typeface="Noto Sans SC"/>
              </a:rPr>
              <a:t>监控各方向「产出/消耗」效率自动暂停低效者；全员耗尽时自动回补 30%，讨论永不锁死</a:t>
            </a:r>
            <a:endParaRPr lang="en-US" sz="1400" noProof="1"/>
          </a:p>
        </p:txBody>
      </p:sp>
      <p:sp>
        <p:nvSpPr>
          <p:cNvPr id="13" name="n4"/>
          <p:cNvSpPr txBox="1"/>
          <p:nvPr/>
        </p:nvSpPr>
        <p:spPr>
          <a:xfrm>
            <a:off x="914400" y="5181600"/>
            <a:ext cx="965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5EEAD4"/>
                </a:solidFill>
                <a:latin typeface="Inter"/>
                <a:ea typeface="Inter"/>
              </a:rPr>
              <a:t>04</a:t>
            </a:r>
            <a:endParaRPr lang="en-US" sz="3000" noProof="1"/>
          </a:p>
        </p:txBody>
      </p:sp>
      <p:sp>
        <p:nvSpPr>
          <p:cNvPr id="14" name="t4"/>
          <p:cNvSpPr txBox="1"/>
          <p:nvPr/>
        </p:nvSpPr>
        <p:spPr>
          <a:xfrm>
            <a:off x="2286000" y="5130800"/>
            <a:ext cx="406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100" noProof="1" b="1" i="0">
                <a:solidFill>
                  <a:srgbClr val="F2F7F7"/>
                </a:solidFill>
                <a:latin typeface="Noto Sans SC"/>
                <a:ea typeface="Noto Sans SC"/>
              </a:rPr>
              <a:t>主持人 AI</a:t>
            </a:r>
            <a:endParaRPr lang="en-US" sz="2100" noProof="1"/>
          </a:p>
        </p:txBody>
      </p:sp>
      <p:sp>
        <p:nvSpPr>
          <p:cNvPr id="15" name="d4"/>
          <p:cNvSpPr txBox="1"/>
          <p:nvPr/>
        </p:nvSpPr>
        <p:spPr>
          <a:xfrm>
            <a:off x="2286000" y="56388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400" noProof="1" i="0">
                <a:solidFill>
                  <a:srgbClr val="8BA3A8"/>
                </a:solidFill>
                <a:latin typeface="Noto Sans SC"/>
                <a:ea typeface="Noto Sans SC"/>
              </a:rPr>
              <a:t>周期性把各方向最新发言汇总成一段 digest，长讨论也能一眼看清进展</a:t>
            </a:r>
            <a:endParaRPr lang="en-US" sz="14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914400" y="5588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200" noProof="1" i="0">
                <a:solidFill>
                  <a:srgbClr val="8BA3A8"/>
                </a:solidFill>
                <a:latin typeface="Inter"/>
                <a:ea typeface="Inter"/>
              </a:rPr>
              <a:t>KEYBALLS · 05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914400" y="9652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F2F7F7"/>
                </a:solidFill>
                <a:latin typeface="Noto Sans SC"/>
                <a:ea typeface="Noto Sans SC"/>
              </a:rPr>
              <a:t>关键球：把讨论变成可触摸的洞察</a:t>
            </a:r>
            <a:endParaRPr lang="en-US" sz="3000" noProof="1"/>
          </a:p>
        </p:txBody>
      </p:sp>
      <p:pic>
        <p:nvPicPr>
          <p:cNvPr id="4" name="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762000" y="1676400"/>
            <a:ext cx="5842000" cy="4318000"/>
          </a:xfrm>
          <a:prstGeom prst="rect">
            <a:avLst/>
          </a:prstGeom>
          <a:ln>
            <a:noFill/>
          </a:ln>
        </p:spPr>
      </p:pic>
      <p:sp>
        <p:nvSpPr>
          <p:cNvPr id="5" name="shot-border"/>
          <p:cNvSpPr/>
          <p:nvPr/>
        </p:nvSpPr>
        <p:spPr>
          <a:xfrm>
            <a:off x="762000" y="1676400"/>
            <a:ext cx="5842000" cy="4318000"/>
          </a:xfrm>
          <a:prstGeom prst="roundRect">
            <a:avLst>
              <a:gd name="adj" fmla="val 0.03"/>
            </a:avLst>
          </a:prstGeom>
          <a:solidFill>
            <a:srgbClr val="000000">
              <a:alpha val="0"/>
            </a:srgbClr>
          </a:solidFill>
          <a:ln w="12700">
            <a:solidFill>
              <a:srgbClr val="2A3A3A"/>
            </a:solidFill>
          </a:ln>
        </p:spPr>
      </p:sp>
      <p:sp>
        <p:nvSpPr>
          <p:cNvPr id="6" name="n1"/>
          <p:cNvSpPr txBox="1"/>
          <p:nvPr/>
        </p:nvSpPr>
        <p:spPr>
          <a:xfrm>
            <a:off x="7061200" y="17780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01</a:t>
            </a:r>
            <a:endParaRPr lang="en-US" sz="2200" noProof="1"/>
          </a:p>
        </p:txBody>
      </p:sp>
      <p:sp>
        <p:nvSpPr>
          <p:cNvPr id="7" name="t1"/>
          <p:cNvSpPr txBox="1"/>
          <p:nvPr/>
        </p:nvSpPr>
        <p:spPr>
          <a:xfrm>
            <a:off x="7899400" y="1803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500" noProof="1" b="1" i="0">
                <a:solidFill>
                  <a:srgbClr val="F2F7F7"/>
                </a:solidFill>
                <a:latin typeface="Noto Sans SC"/>
                <a:ea typeface="Noto Sans SC"/>
              </a:rPr>
              <a:t>讨论中自动生成</a:t>
            </a:r>
            <a:endParaRPr lang="en-US" sz="1500" noProof="1"/>
          </a:p>
        </p:txBody>
      </p:sp>
      <p:sp>
        <p:nvSpPr>
          <p:cNvPr id="8" name="d1"/>
          <p:cNvSpPr txBox="1"/>
          <p:nvPr/>
        </p:nvSpPr>
        <p:spPr>
          <a:xfrm>
            <a:off x="7899400" y="2209800"/>
            <a:ext cx="381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33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AI 每轮发言提炼最值得沉淀的概念；出生点黄金角螺旋搜索，不与任何旧球重叠</a:t>
            </a:r>
            <a:endParaRPr lang="en-US" sz="1200" noProof="1"/>
          </a:p>
        </p:txBody>
      </p:sp>
      <p:sp>
        <p:nvSpPr>
          <p:cNvPr id="9" name="n2"/>
          <p:cNvSpPr txBox="1"/>
          <p:nvPr/>
        </p:nvSpPr>
        <p:spPr>
          <a:xfrm>
            <a:off x="7061200" y="28702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02</a:t>
            </a:r>
            <a:endParaRPr lang="en-US" sz="2200" noProof="1"/>
          </a:p>
        </p:txBody>
      </p:sp>
      <p:sp>
        <p:nvSpPr>
          <p:cNvPr id="10" name="t2"/>
          <p:cNvSpPr txBox="1"/>
          <p:nvPr/>
        </p:nvSpPr>
        <p:spPr>
          <a:xfrm>
            <a:off x="7899400" y="28956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500" noProof="1" b="1" i="0">
                <a:solidFill>
                  <a:srgbClr val="F2F7F7"/>
                </a:solidFill>
                <a:latin typeface="Noto Sans SC"/>
                <a:ea typeface="Noto Sans SC"/>
              </a:rPr>
              <a:t>待机阵阵白色光波</a:t>
            </a:r>
            <a:endParaRPr lang="en-US" sz="1500" noProof="1"/>
          </a:p>
        </p:txBody>
      </p:sp>
      <p:sp>
        <p:nvSpPr>
          <p:cNvPr id="11" name="d2"/>
          <p:cNvSpPr txBox="1"/>
          <p:nvPr/>
        </p:nvSpPr>
        <p:spPr>
          <a:xfrm>
            <a:off x="7899400" y="3302000"/>
            <a:ext cx="381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33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灰球在黑底画布上发出双重错峰涟漪；拼接时更亮更快，一眼锁定焦点</a:t>
            </a:r>
            <a:endParaRPr lang="en-US" sz="1200" noProof="1"/>
          </a:p>
        </p:txBody>
      </p:sp>
      <p:sp>
        <p:nvSpPr>
          <p:cNvPr id="12" name="n3"/>
          <p:cNvSpPr txBox="1"/>
          <p:nvPr/>
        </p:nvSpPr>
        <p:spPr>
          <a:xfrm>
            <a:off x="7061200" y="39624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03</a:t>
            </a:r>
            <a:endParaRPr lang="en-US" sz="2200" noProof="1"/>
          </a:p>
        </p:txBody>
      </p:sp>
      <p:sp>
        <p:nvSpPr>
          <p:cNvPr id="13" name="t3"/>
          <p:cNvSpPr txBox="1"/>
          <p:nvPr/>
        </p:nvSpPr>
        <p:spPr>
          <a:xfrm>
            <a:off x="7899400" y="39878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500" noProof="1" b="1" i="0">
                <a:solidFill>
                  <a:srgbClr val="F2F7F7"/>
                </a:solidFill>
                <a:latin typeface="Noto Sans SC"/>
                <a:ea typeface="Noto Sans SC"/>
              </a:rPr>
              <a:t>靠近即融球</a:t>
            </a:r>
            <a:endParaRPr lang="en-US" sz="1500" noProof="1"/>
          </a:p>
        </p:txBody>
      </p:sp>
      <p:sp>
        <p:nvSpPr>
          <p:cNvPr id="14" name="d3"/>
          <p:cNvSpPr txBox="1"/>
          <p:nvPr/>
        </p:nvSpPr>
        <p:spPr>
          <a:xfrm>
            <a:off x="7899400" y="4394200"/>
            <a:ext cx="381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33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两球靠近：goo 滤镜融球桥接 + 光波加密 + 轻微震动，AI 说出两者的关系</a:t>
            </a:r>
            <a:endParaRPr lang="en-US" sz="1200" noProof="1"/>
          </a:p>
        </p:txBody>
      </p:sp>
      <p:sp>
        <p:nvSpPr>
          <p:cNvPr id="15" name="n4"/>
          <p:cNvSpPr txBox="1"/>
          <p:nvPr/>
        </p:nvSpPr>
        <p:spPr>
          <a:xfrm>
            <a:off x="7061200" y="50546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04</a:t>
            </a:r>
            <a:endParaRPr lang="en-US" sz="2200" noProof="1"/>
          </a:p>
        </p:txBody>
      </p:sp>
      <p:sp>
        <p:nvSpPr>
          <p:cNvPr id="16" name="t4"/>
          <p:cNvSpPr txBox="1"/>
          <p:nvPr/>
        </p:nvSpPr>
        <p:spPr>
          <a:xfrm>
            <a:off x="7899400" y="5080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500" noProof="1" b="1" i="0">
                <a:solidFill>
                  <a:srgbClr val="F2F7F7"/>
                </a:solidFill>
                <a:latin typeface="Noto Sans SC"/>
                <a:ea typeface="Noto Sans SC"/>
              </a:rPr>
              <a:t>一键整理布局</a:t>
            </a:r>
            <a:endParaRPr lang="en-US" sz="1500" noProof="1"/>
          </a:p>
        </p:txBody>
      </p:sp>
      <p:sp>
        <p:nvSpPr>
          <p:cNvPr id="17" name="d4"/>
          <p:cNvSpPr txBox="1"/>
          <p:nvPr/>
        </p:nvSpPr>
        <p:spPr>
          <a:xfrm>
            <a:off x="7899400" y="5486400"/>
            <a:ext cx="381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33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同心环形层层递进并自动取景；双击球看完整生成过程与讨论线程</a:t>
            </a:r>
            <a:endParaRPr lang="en-US" sz="12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914400" y="5588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200" noProof="1" i="0">
                <a:solidFill>
                  <a:srgbClr val="8BA3A8"/>
                </a:solidFill>
                <a:latin typeface="Inter"/>
                <a:ea typeface="Inter"/>
              </a:rPr>
              <a:t>GESTURE · 06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914400" y="965200"/>
            <a:ext cx="914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F2F7F7"/>
                </a:solidFill>
                <a:latin typeface="Noto Sans SC"/>
                <a:ea typeface="Noto Sans SC"/>
              </a:rPr>
              <a:t>手势控制：不接触屏幕的隔空交互</a:t>
            </a:r>
            <a:endParaRPr lang="en-US" sz="3000" noProof="1"/>
          </a:p>
        </p:txBody>
      </p:sp>
      <p:pic>
        <p:nvPicPr>
          <p:cNvPr id="4" name="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762000" y="1676400"/>
            <a:ext cx="5334000" cy="4318000"/>
          </a:xfrm>
          <a:prstGeom prst="rect">
            <a:avLst/>
          </a:prstGeom>
          <a:ln>
            <a:noFill/>
          </a:ln>
        </p:spPr>
      </p:pic>
      <p:sp>
        <p:nvSpPr>
          <p:cNvPr id="5" name="shot-border"/>
          <p:cNvSpPr/>
          <p:nvPr/>
        </p:nvSpPr>
        <p:spPr>
          <a:xfrm>
            <a:off x="762000" y="1676400"/>
            <a:ext cx="5334000" cy="4318000"/>
          </a:xfrm>
          <a:prstGeom prst="roundRect">
            <a:avLst>
              <a:gd name="adj" fmla="val 0.03"/>
            </a:avLst>
          </a:prstGeom>
          <a:solidFill>
            <a:srgbClr val="000000">
              <a:alpha val="0"/>
            </a:srgbClr>
          </a:solidFill>
          <a:ln w="12700">
            <a:solidFill>
              <a:srgbClr val="2A3A3A"/>
            </a:solidFill>
          </a:ln>
        </p:spPr>
      </p:sp>
      <p:sp>
        <p:nvSpPr>
          <p:cNvPr id="6" name="n1"/>
          <p:cNvSpPr txBox="1"/>
          <p:nvPr/>
        </p:nvSpPr>
        <p:spPr>
          <a:xfrm>
            <a:off x="6553200" y="17780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01</a:t>
            </a:r>
            <a:endParaRPr lang="en-US" sz="2200" noProof="1"/>
          </a:p>
        </p:txBody>
      </p:sp>
      <p:sp>
        <p:nvSpPr>
          <p:cNvPr id="7" name="t1"/>
          <p:cNvSpPr txBox="1"/>
          <p:nvPr/>
        </p:nvSpPr>
        <p:spPr>
          <a:xfrm>
            <a:off x="7391400" y="180340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500" noProof="1" b="1" i="0">
                <a:solidFill>
                  <a:srgbClr val="F2F7F7"/>
                </a:solidFill>
                <a:latin typeface="Noto Sans SC"/>
                <a:ea typeface="Noto Sans SC"/>
              </a:rPr>
              <a:t>食指 = 光标（靠近球自动减速）</a:t>
            </a:r>
            <a:endParaRPr lang="en-US" sz="1500" noProof="1"/>
          </a:p>
        </p:txBody>
      </p:sp>
      <p:sp>
        <p:nvSpPr>
          <p:cNvPr id="8" name="d1"/>
          <p:cNvSpPr txBox="1"/>
          <p:nvPr/>
        </p:nvSpPr>
        <p:spPr>
          <a:xfrm>
            <a:off x="7391400" y="2209800"/>
            <a:ext cx="419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33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进入关键球 140px 范围光标减速变琥珀色，抓取精度不够也不易滑过目标</a:t>
            </a:r>
            <a:endParaRPr lang="en-US" sz="1200" noProof="1"/>
          </a:p>
        </p:txBody>
      </p:sp>
      <p:sp>
        <p:nvSpPr>
          <p:cNvPr id="9" name="n2"/>
          <p:cNvSpPr txBox="1"/>
          <p:nvPr/>
        </p:nvSpPr>
        <p:spPr>
          <a:xfrm>
            <a:off x="6553200" y="28448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02</a:t>
            </a:r>
            <a:endParaRPr lang="en-US" sz="2200" noProof="1"/>
          </a:p>
        </p:txBody>
      </p:sp>
      <p:sp>
        <p:nvSpPr>
          <p:cNvPr id="10" name="t2"/>
          <p:cNvSpPr txBox="1"/>
          <p:nvPr/>
        </p:nvSpPr>
        <p:spPr>
          <a:xfrm>
            <a:off x="7391400" y="287020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500" noProof="1" b="1" i="0">
                <a:solidFill>
                  <a:srgbClr val="F2F7F7"/>
                </a:solidFill>
                <a:latin typeface="Noto Sans SC"/>
                <a:ea typeface="Noto Sans SC"/>
              </a:rPr>
              <a:t>握拳 = 抓住 / 双击 / 退出</a:t>
            </a:r>
            <a:endParaRPr lang="en-US" sz="1500" noProof="1"/>
          </a:p>
        </p:txBody>
      </p:sp>
      <p:sp>
        <p:nvSpPr>
          <p:cNvPr id="11" name="d2"/>
          <p:cNvSpPr txBox="1"/>
          <p:nvPr/>
        </p:nvSpPr>
        <p:spPr>
          <a:xfrm>
            <a:off x="7391400" y="3276600"/>
            <a:ext cx="419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33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右手握拳抓球拖动、空白处拖画布；左手握拳打开内容；左手手背退出内容</a:t>
            </a:r>
            <a:endParaRPr lang="en-US" sz="1200" noProof="1"/>
          </a:p>
        </p:txBody>
      </p:sp>
      <p:sp>
        <p:nvSpPr>
          <p:cNvPr id="12" name="n3"/>
          <p:cNvSpPr txBox="1"/>
          <p:nvPr/>
        </p:nvSpPr>
        <p:spPr>
          <a:xfrm>
            <a:off x="6553200" y="39116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03</a:t>
            </a:r>
            <a:endParaRPr lang="en-US" sz="2200" noProof="1"/>
          </a:p>
        </p:txBody>
      </p:sp>
      <p:sp>
        <p:nvSpPr>
          <p:cNvPr id="13" name="t3"/>
          <p:cNvSpPr txBox="1"/>
          <p:nvPr/>
        </p:nvSpPr>
        <p:spPr>
          <a:xfrm>
            <a:off x="7391400" y="393700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500" noProof="1" b="1" i="0">
                <a:solidFill>
                  <a:srgbClr val="F2F7F7"/>
                </a:solidFill>
                <a:latin typeface="Noto Sans SC"/>
                <a:ea typeface="Noto Sans SC"/>
              </a:rPr>
              <a:t>左右摆动 = 缩放 / 倾斜</a:t>
            </a:r>
            <a:endParaRPr lang="en-US" sz="1500" noProof="1"/>
          </a:p>
        </p:txBody>
      </p:sp>
      <p:sp>
        <p:nvSpPr>
          <p:cNvPr id="14" name="d3"/>
          <p:cNvSpPr txBox="1"/>
          <p:nvPr/>
        </p:nvSpPr>
        <p:spPr>
          <a:xfrm>
            <a:off x="7391400" y="4343400"/>
            <a:ext cx="419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33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左摆放大、右摆缩小；双手中心偏移驱动画布 3D 倾斜，增进场感</a:t>
            </a:r>
            <a:endParaRPr lang="en-US" sz="1200" noProof="1"/>
          </a:p>
        </p:txBody>
      </p:sp>
      <p:sp>
        <p:nvSpPr>
          <p:cNvPr id="15" name="n4"/>
          <p:cNvSpPr txBox="1"/>
          <p:nvPr/>
        </p:nvSpPr>
        <p:spPr>
          <a:xfrm>
            <a:off x="6553200" y="49784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04</a:t>
            </a:r>
            <a:endParaRPr lang="en-US" sz="2200" noProof="1"/>
          </a:p>
        </p:txBody>
      </p:sp>
      <p:sp>
        <p:nvSpPr>
          <p:cNvPr id="16" name="t4"/>
          <p:cNvSpPr txBox="1"/>
          <p:nvPr/>
        </p:nvSpPr>
        <p:spPr>
          <a:xfrm>
            <a:off x="7391400" y="500380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500" noProof="1" b="1" i="0">
                <a:solidFill>
                  <a:srgbClr val="F2F7F7"/>
                </a:solidFill>
                <a:latin typeface="Noto Sans SC"/>
                <a:ea typeface="Noto Sans SC"/>
              </a:rPr>
              <a:t>张开双手 = 唤醒</a:t>
            </a:r>
            <a:endParaRPr lang="en-US" sz="1500" noProof="1"/>
          </a:p>
        </p:txBody>
      </p:sp>
      <p:sp>
        <p:nvSpPr>
          <p:cNvPr id="17" name="d4"/>
          <p:cNvSpPr txBox="1"/>
          <p:nvPr/>
        </p:nvSpPr>
        <p:spPr>
          <a:xfrm>
            <a:off x="7391400" y="5410200"/>
            <a:ext cx="419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33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MediaPipe 本地识别，手指弯曲有阈值防误触；离屏 2.5 秒自动退出手势模式</a:t>
            </a:r>
            <a:endParaRPr lang="en-US" sz="12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914400" y="6096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200" noProof="1" i="0">
                <a:solidFill>
                  <a:srgbClr val="8BA3A8"/>
                </a:solidFill>
                <a:latin typeface="Inter"/>
                <a:ea typeface="Inter"/>
              </a:rPr>
              <a:t>VOICE · 07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914400" y="1117600"/>
            <a:ext cx="990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200" noProof="1" b="1">
                <a:solidFill>
                  <a:srgbClr val="F2F7F7"/>
                </a:solidFill>
                <a:latin typeface="Noto Sans SC"/>
                <a:ea typeface="Noto Sans SC"/>
              </a:rPr>
              <a:t>语音参与：唤醒词「小K」与控场指令</a:t>
            </a:r>
            <a:endParaRPr lang="en-US" sz="3200" noProof="1"/>
          </a:p>
        </p:txBody>
      </p:sp>
      <p:sp>
        <p:nvSpPr>
          <p:cNvPr id="4" name="n1"/>
          <p:cNvSpPr txBox="1"/>
          <p:nvPr/>
        </p:nvSpPr>
        <p:spPr>
          <a:xfrm>
            <a:off x="914400" y="2235200"/>
            <a:ext cx="965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5EEAD4"/>
                </a:solidFill>
                <a:latin typeface="Inter"/>
                <a:ea typeface="Inter"/>
              </a:rPr>
              <a:t>01</a:t>
            </a:r>
            <a:endParaRPr lang="en-US" sz="3000" noProof="1"/>
          </a:p>
        </p:txBody>
      </p:sp>
      <p:cxnSp>
        <p:nvCxnSpPr>
          <p:cNvPr id="5" name="l1"/>
          <p:cNvCxnSpPr/>
          <p:nvPr/>
        </p:nvCxnSpPr>
        <p:spPr>
          <a:xfrm rot="5292600">
            <a:off x="1803400" y="2527300"/>
            <a:ext cx="406400" cy="12700"/>
          </a:xfrm>
          <a:prstGeom prst="straightConnector1">
            <a:avLst/>
          </a:prstGeom>
          <a:ln w="12700">
            <a:solidFill>
              <a:srgbClr val="2A3A3A"/>
            </a:solidFill>
          </a:ln>
        </p:spPr>
      </p:cxnSp>
      <p:sp>
        <p:nvSpPr>
          <p:cNvPr id="6" name="t1"/>
          <p:cNvSpPr txBox="1"/>
          <p:nvPr/>
        </p:nvSpPr>
        <p:spPr>
          <a:xfrm>
            <a:off x="2286000" y="2184400"/>
            <a:ext cx="406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100" noProof="1" b="1" i="0">
                <a:solidFill>
                  <a:srgbClr val="F2F7F7"/>
                </a:solidFill>
                <a:latin typeface="Noto Sans SC"/>
                <a:ea typeface="Noto Sans SC"/>
              </a:rPr>
              <a:t>唤醒即插话</a:t>
            </a:r>
            <a:endParaRPr lang="en-US" sz="2100" noProof="1"/>
          </a:p>
        </p:txBody>
      </p:sp>
      <p:sp>
        <p:nvSpPr>
          <p:cNvPr id="7" name="d1"/>
          <p:cNvSpPr txBox="1"/>
          <p:nvPr/>
        </p:nvSpPr>
        <p:spPr>
          <a:xfrm>
            <a:off x="2286000" y="26924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400" noProof="1" i="0">
                <a:solidFill>
                  <a:srgbClr val="8BA3A8"/>
                </a:solidFill>
                <a:latin typeface="Noto Sans SC"/>
                <a:ea typeface="Noto Sans SC"/>
              </a:rPr>
              <a:t>说「小K」→ 提示音后 6 秒内说出观点 → 自动作为人类消息送入讨论，AI 围绕你继续</a:t>
            </a:r>
            <a:endParaRPr lang="en-US" sz="1400" noProof="1"/>
          </a:p>
        </p:txBody>
      </p:sp>
      <p:sp>
        <p:nvSpPr>
          <p:cNvPr id="8" name="n2"/>
          <p:cNvSpPr txBox="1"/>
          <p:nvPr/>
        </p:nvSpPr>
        <p:spPr>
          <a:xfrm>
            <a:off x="914400" y="3403600"/>
            <a:ext cx="965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5EEAD4"/>
                </a:solidFill>
                <a:latin typeface="Inter"/>
                <a:ea typeface="Inter"/>
              </a:rPr>
              <a:t>02</a:t>
            </a:r>
            <a:endParaRPr lang="en-US" sz="3000" noProof="1"/>
          </a:p>
        </p:txBody>
      </p:sp>
      <p:cxnSp>
        <p:nvCxnSpPr>
          <p:cNvPr id="9" name="l2"/>
          <p:cNvCxnSpPr/>
          <p:nvPr/>
        </p:nvCxnSpPr>
        <p:spPr>
          <a:xfrm rot="5292600">
            <a:off x="1803400" y="3695700"/>
            <a:ext cx="406400" cy="12700"/>
          </a:xfrm>
          <a:prstGeom prst="straightConnector1">
            <a:avLst/>
          </a:prstGeom>
          <a:ln w="12700">
            <a:solidFill>
              <a:srgbClr val="2A3A3A"/>
            </a:solidFill>
          </a:ln>
        </p:spPr>
      </p:cxnSp>
      <p:sp>
        <p:nvSpPr>
          <p:cNvPr id="10" name="t2"/>
          <p:cNvSpPr txBox="1"/>
          <p:nvPr/>
        </p:nvSpPr>
        <p:spPr>
          <a:xfrm>
            <a:off x="2286000" y="3352800"/>
            <a:ext cx="406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100" noProof="1" b="1" i="0">
                <a:solidFill>
                  <a:srgbClr val="F2F7F7"/>
                </a:solidFill>
                <a:latin typeface="Noto Sans SC"/>
                <a:ea typeface="Noto Sans SC"/>
              </a:rPr>
              <a:t>八条控场指令</a:t>
            </a:r>
            <a:endParaRPr lang="en-US" sz="2100" noProof="1"/>
          </a:p>
        </p:txBody>
      </p:sp>
      <p:sp>
        <p:nvSpPr>
          <p:cNvPr id="11" name="d2"/>
          <p:cNvSpPr txBox="1"/>
          <p:nvPr/>
        </p:nvSpPr>
        <p:spPr>
          <a:xfrm>
            <a:off x="2286000" y="38608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400" noProof="1" i="0">
                <a:solidFill>
                  <a:srgbClr val="8BA3A8"/>
                </a:solidFill>
                <a:latin typeface="Noto Sans SC"/>
                <a:ea typeface="Noto Sans SC"/>
              </a:rPr>
              <a:t>「小K 暂停 / 继续 / 整理 / 收敛 / 放大 / 缩小 / 导出 / 回放」——说话即控场</a:t>
            </a:r>
            <a:endParaRPr lang="en-US" sz="1400" noProof="1"/>
          </a:p>
        </p:txBody>
      </p:sp>
      <p:sp>
        <p:nvSpPr>
          <p:cNvPr id="12" name="n3"/>
          <p:cNvSpPr txBox="1"/>
          <p:nvPr/>
        </p:nvSpPr>
        <p:spPr>
          <a:xfrm>
            <a:off x="914400" y="4572000"/>
            <a:ext cx="965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5EEAD4"/>
                </a:solidFill>
                <a:latin typeface="Inter"/>
                <a:ea typeface="Inter"/>
              </a:rPr>
              <a:t>03</a:t>
            </a:r>
            <a:endParaRPr lang="en-US" sz="3000" noProof="1"/>
          </a:p>
        </p:txBody>
      </p:sp>
      <p:cxnSp>
        <p:nvCxnSpPr>
          <p:cNvPr id="13" name="l3"/>
          <p:cNvCxnSpPr/>
          <p:nvPr/>
        </p:nvCxnSpPr>
        <p:spPr>
          <a:xfrm rot="5292600">
            <a:off x="1803400" y="4864100"/>
            <a:ext cx="406400" cy="12700"/>
          </a:xfrm>
          <a:prstGeom prst="straightConnector1">
            <a:avLst/>
          </a:prstGeom>
          <a:ln w="12700">
            <a:solidFill>
              <a:srgbClr val="2A3A3A"/>
            </a:solidFill>
          </a:ln>
        </p:spPr>
      </p:cxnSp>
      <p:sp>
        <p:nvSpPr>
          <p:cNvPr id="14" name="t3"/>
          <p:cNvSpPr txBox="1"/>
          <p:nvPr/>
        </p:nvSpPr>
        <p:spPr>
          <a:xfrm>
            <a:off x="2286000" y="4521200"/>
            <a:ext cx="406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100" noProof="1" b="1" i="0">
                <a:solidFill>
                  <a:srgbClr val="F2F7F7"/>
                </a:solidFill>
                <a:latin typeface="Noto Sans SC"/>
                <a:ea typeface="Noto Sans SC"/>
              </a:rPr>
              <a:t>断线自动重连</a:t>
            </a:r>
            <a:endParaRPr lang="en-US" sz="2100" noProof="1"/>
          </a:p>
        </p:txBody>
      </p:sp>
      <p:sp>
        <p:nvSpPr>
          <p:cNvPr id="15" name="d3"/>
          <p:cNvSpPr txBox="1"/>
          <p:nvPr/>
        </p:nvSpPr>
        <p:spPr>
          <a:xfrm>
            <a:off x="2286000" y="50292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400" noProof="1" i="0">
                <a:solidFill>
                  <a:srgbClr val="8BA3A8"/>
                </a:solidFill>
                <a:latin typeface="Noto Sans SC"/>
                <a:ea typeface="Noto Sans SC"/>
              </a:rPr>
              <a:t>识别中断 800ms 自动重启且定时器全程可清理；安静 6 秒自动提交，不怕说一半</a:t>
            </a:r>
            <a:endParaRPr lang="en-US" sz="1400" noProof="1"/>
          </a:p>
        </p:txBody>
      </p:sp>
      <p:sp>
        <p:nvSpPr>
          <p:cNvPr id="16" name="n4"/>
          <p:cNvSpPr txBox="1"/>
          <p:nvPr/>
        </p:nvSpPr>
        <p:spPr>
          <a:xfrm>
            <a:off x="914400" y="5740400"/>
            <a:ext cx="965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5EEAD4"/>
                </a:solidFill>
                <a:latin typeface="Inter"/>
                <a:ea typeface="Inter"/>
              </a:rPr>
              <a:t>04</a:t>
            </a:r>
            <a:endParaRPr lang="en-US" sz="3000" noProof="1"/>
          </a:p>
        </p:txBody>
      </p:sp>
      <p:cxnSp>
        <p:nvCxnSpPr>
          <p:cNvPr id="17" name="l4"/>
          <p:cNvCxnSpPr/>
          <p:nvPr/>
        </p:nvCxnSpPr>
        <p:spPr>
          <a:xfrm rot="5292600">
            <a:off x="1803400" y="6032500"/>
            <a:ext cx="406400" cy="12700"/>
          </a:xfrm>
          <a:prstGeom prst="straightConnector1">
            <a:avLst/>
          </a:prstGeom>
          <a:ln w="12700">
            <a:solidFill>
              <a:srgbClr val="2A3A3A"/>
            </a:solidFill>
          </a:ln>
        </p:spPr>
      </p:cxnSp>
      <p:sp>
        <p:nvSpPr>
          <p:cNvPr id="18" name="t4"/>
          <p:cNvSpPr txBox="1"/>
          <p:nvPr/>
        </p:nvSpPr>
        <p:spPr>
          <a:xfrm>
            <a:off x="2286000" y="5689600"/>
            <a:ext cx="406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100" noProof="1" b="1" i="0">
                <a:solidFill>
                  <a:srgbClr val="F2F7F7"/>
                </a:solidFill>
                <a:latin typeface="Noto Sans SC"/>
                <a:ea typeface="Noto Sans SC"/>
              </a:rPr>
              <a:t>演示模式零消耗</a:t>
            </a:r>
            <a:endParaRPr lang="en-US" sz="2100" noProof="1"/>
          </a:p>
        </p:txBody>
      </p:sp>
      <p:sp>
        <p:nvSpPr>
          <p:cNvPr id="19" name="d4"/>
          <p:cNvSpPr txBox="1"/>
          <p:nvPr/>
        </p:nvSpPr>
        <p:spPr>
          <a:xfrm>
            <a:off x="2286000" y="61976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400" noProof="1" i="0">
                <a:solidFill>
                  <a:srgbClr val="8BA3A8"/>
                </a:solidFill>
                <a:latin typeface="Noto Sans SC"/>
                <a:ea typeface="Noto Sans SC"/>
              </a:rPr>
              <a:t>未配置 API Key 时语音与全部功能仍可完整演示，不花一分钱额度</a:t>
            </a:r>
            <a:endParaRPr lang="en-US" sz="14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914400" y="5588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200" noProof="1" i="0">
                <a:solidFill>
                  <a:srgbClr val="8BA3A8"/>
                </a:solidFill>
                <a:latin typeface="Inter"/>
                <a:ea typeface="Inter"/>
              </a:rPr>
              <a:t>ARCHITECTURE · 08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9144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F2F7F7"/>
                </a:solidFill>
                <a:latin typeface="Noto Sans SC"/>
                <a:ea typeface="Noto Sans SC"/>
              </a:rPr>
              <a:t>技术架构：纯前端实现的混合架构</a:t>
            </a:r>
            <a:endParaRPr lang="en-US" sz="3000" noProof="1"/>
          </a:p>
        </p:txBody>
      </p:sp>
      <p:sp>
        <p:nvSpPr>
          <p:cNvPr id="4" name="layer1"/>
          <p:cNvSpPr txBox="1"/>
          <p:nvPr/>
        </p:nvSpPr>
        <p:spPr>
          <a:xfrm>
            <a:off x="914400" y="16256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5EEAD4"/>
                </a:solidFill>
                <a:latin typeface="Noto Sans SC"/>
                <a:ea typeface="Noto Sans SC"/>
              </a:rPr>
              <a:t>交互层 · 浏览器前端</a:t>
            </a:r>
            <a:endParaRPr lang="en-US" sz="1300" noProof="1"/>
          </a:p>
        </p:txBody>
      </p:sp>
      <p:sp>
        <p:nvSpPr>
          <p:cNvPr id="5" name="b1"/>
          <p:cNvSpPr/>
          <p:nvPr/>
        </p:nvSpPr>
        <p:spPr>
          <a:xfrm>
            <a:off x="914400" y="2006600"/>
            <a:ext cx="3175000" cy="838200"/>
          </a:xfrm>
          <a:prstGeom prst="roundRect">
            <a:avLst>
              <a:gd name="adj" fmla="val 0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6" name="b1t"/>
          <p:cNvSpPr txBox="1"/>
          <p:nvPr/>
        </p:nvSpPr>
        <p:spPr>
          <a:xfrm>
            <a:off x="1066800" y="21336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F2F7F7"/>
                </a:solidFill>
                <a:latin typeface="Noto Sans SC"/>
                <a:ea typeface="Noto Sans SC"/>
              </a:rPr>
              <a:t>双层画布渲染引擎</a:t>
            </a:r>
            <a:endParaRPr lang="en-US" sz="1300" noProof="1"/>
          </a:p>
        </p:txBody>
      </p:sp>
      <p:sp>
        <p:nvSpPr>
          <p:cNvPr id="7" name="b1d"/>
          <p:cNvSpPr txBox="1"/>
          <p:nvPr/>
        </p:nvSpPr>
        <p:spPr>
          <a:xfrm>
            <a:off x="1066800" y="2463800"/>
            <a:ext cx="287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100" noProof="1" i="0">
                <a:solidFill>
                  <a:srgbClr val="8BA3A8"/>
                </a:solidFill>
                <a:latin typeface="Noto Sans SC"/>
                <a:ea typeface="Noto Sans SC"/>
              </a:rPr>
              <a:t>goo 滤镜融球 + 独立光波层</a:t>
            </a:r>
            <a:endParaRPr lang="en-US" sz="1100" noProof="1"/>
          </a:p>
        </p:txBody>
      </p:sp>
      <p:sp>
        <p:nvSpPr>
          <p:cNvPr id="8" name="b2"/>
          <p:cNvSpPr/>
          <p:nvPr/>
        </p:nvSpPr>
        <p:spPr>
          <a:xfrm>
            <a:off x="4267200" y="2006600"/>
            <a:ext cx="3175000" cy="838200"/>
          </a:xfrm>
          <a:prstGeom prst="roundRect">
            <a:avLst>
              <a:gd name="adj" fmla="val 0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9" name="b2t"/>
          <p:cNvSpPr txBox="1"/>
          <p:nvPr/>
        </p:nvSpPr>
        <p:spPr>
          <a:xfrm>
            <a:off x="4419600" y="21336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F2F7F7"/>
                </a:solidFill>
                <a:latin typeface="Noto Sans SC"/>
                <a:ea typeface="Noto Sans SC"/>
              </a:rPr>
              <a:t>手势语音控制坞</a:t>
            </a:r>
            <a:endParaRPr lang="en-US" sz="1300" noProof="1"/>
          </a:p>
        </p:txBody>
      </p:sp>
      <p:sp>
        <p:nvSpPr>
          <p:cNvPr id="10" name="b2d"/>
          <p:cNvSpPr txBox="1"/>
          <p:nvPr/>
        </p:nvSpPr>
        <p:spPr>
          <a:xfrm>
            <a:off x="4419600" y="2463800"/>
            <a:ext cx="287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100" noProof="1" i="0">
                <a:solidFill>
                  <a:srgbClr val="8BA3A8"/>
                </a:solidFill>
                <a:latin typeface="Noto Sans SC"/>
                <a:ea typeface="Noto Sans SC"/>
              </a:rPr>
              <a:t>合成指针事件 · 语音控场</a:t>
            </a:r>
            <a:endParaRPr lang="en-US" sz="1100" noProof="1"/>
          </a:p>
        </p:txBody>
      </p:sp>
      <p:sp>
        <p:nvSpPr>
          <p:cNvPr id="11" name="b3"/>
          <p:cNvSpPr/>
          <p:nvPr/>
        </p:nvSpPr>
        <p:spPr>
          <a:xfrm>
            <a:off x="7620000" y="2006600"/>
            <a:ext cx="3175000" cy="838200"/>
          </a:xfrm>
          <a:prstGeom prst="roundRect">
            <a:avLst>
              <a:gd name="adj" fmla="val 0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12" name="b3t"/>
          <p:cNvSpPr txBox="1"/>
          <p:nvPr/>
        </p:nvSpPr>
        <p:spPr>
          <a:xfrm>
            <a:off x="7772400" y="21336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F2F7F7"/>
                </a:solidFill>
                <a:latin typeface="Noto Sans SC"/>
                <a:ea typeface="Noto Sans SC"/>
              </a:rPr>
              <a:t>讨论面板与仪表盘</a:t>
            </a:r>
            <a:endParaRPr lang="en-US" sz="1300" noProof="1"/>
          </a:p>
        </p:txBody>
      </p:sp>
      <p:sp>
        <p:nvSpPr>
          <p:cNvPr id="13" name="b3d"/>
          <p:cNvSpPr txBox="1"/>
          <p:nvPr/>
        </p:nvSpPr>
        <p:spPr>
          <a:xfrm>
            <a:off x="7772400" y="2463800"/>
            <a:ext cx="287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100" noProof="1" i="0">
                <a:solidFill>
                  <a:srgbClr val="8BA3A8"/>
                </a:solidFill>
                <a:latin typeface="Noto Sans SC"/>
                <a:ea typeface="Noto Sans SC"/>
              </a:rPr>
              <a:t>额度曲线 · 回放条 · 结论卡</a:t>
            </a:r>
            <a:endParaRPr lang="en-US" sz="1100" noProof="1"/>
          </a:p>
        </p:txBody>
      </p:sp>
      <p:cxnSp>
        <p:nvCxnSpPr>
          <p:cNvPr id="14" name="arrow1"/>
          <p:cNvCxnSpPr/>
          <p:nvPr/>
        </p:nvCxnSpPr>
        <p:spPr>
          <a:xfrm rot="5292600">
            <a:off x="5892800" y="3111500"/>
            <a:ext cx="406400" cy="12700"/>
          </a:xfrm>
          <a:prstGeom prst="straightConnector1">
            <a:avLst/>
          </a:prstGeom>
          <a:ln w="25400">
            <a:solidFill>
              <a:srgbClr val="5EEAD4"/>
            </a:solidFill>
            <a:tailEnd type="arrow"/>
          </a:ln>
        </p:spPr>
      </p:cxnSp>
      <p:sp>
        <p:nvSpPr>
          <p:cNvPr id="15" name="layer2"/>
          <p:cNvSpPr txBox="1"/>
          <p:nvPr/>
        </p:nvSpPr>
        <p:spPr>
          <a:xfrm>
            <a:off x="914400" y="34036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5EEAD4"/>
                </a:solidFill>
                <a:latin typeface="Noto Sans SC"/>
                <a:ea typeface="Noto Sans SC"/>
              </a:rPr>
              <a:t>引擎层 · 客户端讨论引擎</a:t>
            </a:r>
            <a:endParaRPr lang="en-US" sz="1300" noProof="1"/>
          </a:p>
        </p:txBody>
      </p:sp>
      <p:sp>
        <p:nvSpPr>
          <p:cNvPr id="16" name="b4"/>
          <p:cNvSpPr/>
          <p:nvPr/>
        </p:nvSpPr>
        <p:spPr>
          <a:xfrm>
            <a:off x="914400" y="3784600"/>
            <a:ext cx="3175000" cy="838200"/>
          </a:xfrm>
          <a:prstGeom prst="roundRect">
            <a:avLst>
              <a:gd name="adj" fmla="val 0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17" name="b4t"/>
          <p:cNvSpPr txBox="1"/>
          <p:nvPr/>
        </p:nvSpPr>
        <p:spPr>
          <a:xfrm>
            <a:off x="1066800" y="39116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F2F7F7"/>
                </a:solidFill>
                <a:latin typeface="Noto Sans SC"/>
                <a:ea typeface="Noto Sans SC"/>
              </a:rPr>
              <a:t>讨论引擎 useDiscussion</a:t>
            </a:r>
            <a:endParaRPr lang="en-US" sz="1300" noProof="1"/>
          </a:p>
        </p:txBody>
      </p:sp>
      <p:sp>
        <p:nvSpPr>
          <p:cNvPr id="18" name="b4d"/>
          <p:cNvSpPr txBox="1"/>
          <p:nvPr/>
        </p:nvSpPr>
        <p:spPr>
          <a:xfrm>
            <a:off x="1066800" y="4241800"/>
            <a:ext cx="287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100" noProof="1" i="0">
                <a:solidFill>
                  <a:srgbClr val="8BA3A8"/>
                </a:solidFill>
                <a:latin typeface="Noto Sans SC"/>
                <a:ea typeface="Noto Sans SC"/>
              </a:rPr>
              <a:t>角色调度 · 扣费 · 降档 · 防锁死</a:t>
            </a:r>
            <a:endParaRPr lang="en-US" sz="1100" noProof="1"/>
          </a:p>
        </p:txBody>
      </p:sp>
      <p:sp>
        <p:nvSpPr>
          <p:cNvPr id="19" name="b5"/>
          <p:cNvSpPr/>
          <p:nvPr/>
        </p:nvSpPr>
        <p:spPr>
          <a:xfrm>
            <a:off x="4267200" y="3784600"/>
            <a:ext cx="3175000" cy="838200"/>
          </a:xfrm>
          <a:prstGeom prst="roundRect">
            <a:avLst>
              <a:gd name="adj" fmla="val 0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20" name="b5t"/>
          <p:cNvSpPr txBox="1"/>
          <p:nvPr/>
        </p:nvSpPr>
        <p:spPr>
          <a:xfrm>
            <a:off x="4419600" y="39116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F2F7F7"/>
                </a:solidFill>
                <a:latin typeface="Noto Sans SC"/>
                <a:ea typeface="Noto Sans SC"/>
              </a:rPr>
              <a:t>收敛与实时刷新</a:t>
            </a:r>
            <a:endParaRPr lang="en-US" sz="1300" noProof="1"/>
          </a:p>
        </p:txBody>
      </p:sp>
      <p:sp>
        <p:nvSpPr>
          <p:cNvPr id="21" name="b5d"/>
          <p:cNvSpPr txBox="1"/>
          <p:nvPr/>
        </p:nvSpPr>
        <p:spPr>
          <a:xfrm>
            <a:off x="4419600" y="4241800"/>
            <a:ext cx="287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100" noProof="1" i="0">
                <a:solidFill>
                  <a:srgbClr val="8BA3A8"/>
                </a:solidFill>
                <a:latin typeface="Noto Sans SC"/>
                <a:ea typeface="Noto Sans SC"/>
              </a:rPr>
              <a:t>拼接簇聚类 · 结论随讨论更新</a:t>
            </a:r>
            <a:endParaRPr lang="en-US" sz="1100" noProof="1"/>
          </a:p>
        </p:txBody>
      </p:sp>
      <p:sp>
        <p:nvSpPr>
          <p:cNvPr id="22" name="b6"/>
          <p:cNvSpPr/>
          <p:nvPr/>
        </p:nvSpPr>
        <p:spPr>
          <a:xfrm>
            <a:off x="7620000" y="3784600"/>
            <a:ext cx="3175000" cy="838200"/>
          </a:xfrm>
          <a:prstGeom prst="roundRect">
            <a:avLst>
              <a:gd name="adj" fmla="val 0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23" name="b6t"/>
          <p:cNvSpPr txBox="1"/>
          <p:nvPr/>
        </p:nvSpPr>
        <p:spPr>
          <a:xfrm>
            <a:off x="7772400" y="3911600"/>
            <a:ext cx="2870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F2F7F7"/>
                </a:solidFill>
                <a:latin typeface="Noto Sans SC"/>
                <a:ea typeface="Noto Sans SC"/>
              </a:rPr>
              <a:t>回放与报告</a:t>
            </a:r>
            <a:endParaRPr lang="en-US" sz="1300" noProof="1"/>
          </a:p>
        </p:txBody>
      </p:sp>
      <p:sp>
        <p:nvSpPr>
          <p:cNvPr id="24" name="b6d"/>
          <p:cNvSpPr txBox="1"/>
          <p:nvPr/>
        </p:nvSpPr>
        <p:spPr>
          <a:xfrm>
            <a:off x="7772400" y="4241800"/>
            <a:ext cx="287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100" noProof="1" i="0">
                <a:solidFill>
                  <a:srgbClr val="8BA3A8"/>
                </a:solidFill>
                <a:latin typeface="Noto Sans SC"/>
                <a:ea typeface="Noto Sans SC"/>
              </a:rPr>
              <a:t>时间轴快照 · Markdown 导出</a:t>
            </a:r>
            <a:endParaRPr lang="en-US" sz="1100" noProof="1"/>
          </a:p>
        </p:txBody>
      </p:sp>
      <p:cxnSp>
        <p:nvCxnSpPr>
          <p:cNvPr id="25" name="arrow2"/>
          <p:cNvCxnSpPr/>
          <p:nvPr/>
        </p:nvCxnSpPr>
        <p:spPr>
          <a:xfrm rot="5292600">
            <a:off x="5892800" y="4889500"/>
            <a:ext cx="406400" cy="12700"/>
          </a:xfrm>
          <a:prstGeom prst="straightConnector1">
            <a:avLst/>
          </a:prstGeom>
          <a:ln w="25400">
            <a:solidFill>
              <a:srgbClr val="5EEAD4"/>
            </a:solidFill>
            <a:tailEnd type="arrow"/>
          </a:ln>
        </p:spPr>
      </p:cxnSp>
      <p:sp>
        <p:nvSpPr>
          <p:cNvPr id="26" name="layer3"/>
          <p:cNvSpPr txBox="1"/>
          <p:nvPr/>
        </p:nvSpPr>
        <p:spPr>
          <a:xfrm>
            <a:off x="914400" y="5181600"/>
            <a:ext cx="406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5EEAD4"/>
                </a:solidFill>
                <a:latin typeface="Noto Sans SC"/>
                <a:ea typeface="Noto Sans SC"/>
              </a:rPr>
              <a:t>能力层</a:t>
            </a:r>
            <a:endParaRPr lang="en-US" sz="1300" noProof="1"/>
          </a:p>
        </p:txBody>
      </p:sp>
      <p:sp>
        <p:nvSpPr>
          <p:cNvPr id="27" name="b7"/>
          <p:cNvSpPr/>
          <p:nvPr/>
        </p:nvSpPr>
        <p:spPr>
          <a:xfrm>
            <a:off x="914400" y="5562600"/>
            <a:ext cx="3175000" cy="711200"/>
          </a:xfrm>
          <a:prstGeom prst="roundRect">
            <a:avLst>
              <a:gd name="adj" fmla="val 0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28" name="b7t"/>
          <p:cNvSpPr txBox="1"/>
          <p:nvPr/>
        </p:nvSpPr>
        <p:spPr>
          <a:xfrm>
            <a:off x="1066800" y="5664200"/>
            <a:ext cx="287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F2F7F7"/>
                </a:solidFill>
                <a:latin typeface="Noto Sans SC"/>
                <a:ea typeface="Noto Sans SC"/>
              </a:rPr>
              <a:t>Kimi 大模型 API</a:t>
            </a:r>
            <a:endParaRPr lang="en-US" sz="1300" noProof="1"/>
          </a:p>
        </p:txBody>
      </p:sp>
      <p:sp>
        <p:nvSpPr>
          <p:cNvPr id="29" name="b7d"/>
          <p:cNvSpPr txBox="1"/>
          <p:nvPr/>
        </p:nvSpPr>
        <p:spPr>
          <a:xfrm>
            <a:off x="1066800" y="5969000"/>
            <a:ext cx="2870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100" noProof="1" i="0">
                <a:solidFill>
                  <a:srgbClr val="8BA3A8"/>
                </a:solidFill>
                <a:latin typeface="Noto Sans SC"/>
                <a:ea typeface="Noto Sans SC"/>
              </a:rPr>
              <a:t>多角色内容生成与提炼</a:t>
            </a:r>
            <a:endParaRPr lang="en-US" sz="1100" noProof="1"/>
          </a:p>
        </p:txBody>
      </p:sp>
      <p:sp>
        <p:nvSpPr>
          <p:cNvPr id="30" name="b8"/>
          <p:cNvSpPr/>
          <p:nvPr/>
        </p:nvSpPr>
        <p:spPr>
          <a:xfrm>
            <a:off x="4267200" y="5562600"/>
            <a:ext cx="3175000" cy="711200"/>
          </a:xfrm>
          <a:prstGeom prst="roundRect">
            <a:avLst>
              <a:gd name="adj" fmla="val 0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31" name="b8t"/>
          <p:cNvSpPr txBox="1"/>
          <p:nvPr/>
        </p:nvSpPr>
        <p:spPr>
          <a:xfrm>
            <a:off x="4419600" y="5664200"/>
            <a:ext cx="287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F2F7F7"/>
                </a:solidFill>
                <a:latin typeface="Noto Sans SC"/>
                <a:ea typeface="Noto Sans SC"/>
              </a:rPr>
              <a:t>MediaPipe 本地模型</a:t>
            </a:r>
            <a:endParaRPr lang="en-US" sz="1300" noProof="1"/>
          </a:p>
        </p:txBody>
      </p:sp>
      <p:sp>
        <p:nvSpPr>
          <p:cNvPr id="32" name="b8d"/>
          <p:cNvSpPr txBox="1"/>
          <p:nvPr/>
        </p:nvSpPr>
        <p:spPr>
          <a:xfrm>
            <a:off x="4419600" y="5969000"/>
            <a:ext cx="2870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100" noProof="1" i="0">
                <a:solidFill>
                  <a:srgbClr val="8BA3A8"/>
                </a:solidFill>
                <a:latin typeface="Noto Sans SC"/>
                <a:ea typeface="Noto Sans SC"/>
              </a:rPr>
              <a:t>手部关键点识别 · 离线可用</a:t>
            </a:r>
            <a:endParaRPr lang="en-US" sz="1100" noProof="1"/>
          </a:p>
        </p:txBody>
      </p:sp>
      <p:sp>
        <p:nvSpPr>
          <p:cNvPr id="33" name="b9"/>
          <p:cNvSpPr/>
          <p:nvPr/>
        </p:nvSpPr>
        <p:spPr>
          <a:xfrm>
            <a:off x="7620000" y="5562600"/>
            <a:ext cx="3175000" cy="711200"/>
          </a:xfrm>
          <a:prstGeom prst="roundRect">
            <a:avLst>
              <a:gd name="adj" fmla="val 0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34" name="b9t"/>
          <p:cNvSpPr txBox="1"/>
          <p:nvPr/>
        </p:nvSpPr>
        <p:spPr>
          <a:xfrm>
            <a:off x="7772400" y="5664200"/>
            <a:ext cx="2870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F2F7F7"/>
                </a:solidFill>
                <a:latin typeface="Noto Sans SC"/>
                <a:ea typeface="Noto Sans SC"/>
              </a:rPr>
              <a:t>Web Speech · 文档解析</a:t>
            </a:r>
            <a:endParaRPr lang="en-US" sz="1300" noProof="1"/>
          </a:p>
        </p:txBody>
      </p:sp>
      <p:sp>
        <p:nvSpPr>
          <p:cNvPr id="35" name="b9d"/>
          <p:cNvSpPr txBox="1"/>
          <p:nvPr/>
        </p:nvSpPr>
        <p:spPr>
          <a:xfrm>
            <a:off x="7772400" y="5969000"/>
            <a:ext cx="2870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100" noProof="1" i="0">
                <a:solidFill>
                  <a:srgbClr val="8BA3A8"/>
                </a:solidFill>
                <a:latin typeface="Noto Sans SC"/>
                <a:ea typeface="Noto Sans SC"/>
              </a:rPr>
              <a:t>语音识别 · PDF/DOCX/图片提取</a:t>
            </a:r>
            <a:endParaRPr lang="en-US" sz="11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914400" y="5588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200" noProof="1" i="0">
                <a:solidFill>
                  <a:srgbClr val="8BA3A8"/>
                </a:solidFill>
                <a:latin typeface="Inter"/>
                <a:ea typeface="Inter"/>
              </a:rPr>
              <a:t>CRAFT · 09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914400" y="965200"/>
            <a:ext cx="990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F2F7F7"/>
                </a:solidFill>
                <a:latin typeface="Noto Sans SC"/>
                <a:ea typeface="Noto Sans SC"/>
              </a:rPr>
              <a:t>关键实现：四个支撑体验的技术决策</a:t>
            </a:r>
            <a:endParaRPr lang="en-US" sz="3000" noProof="1"/>
          </a:p>
        </p:txBody>
      </p:sp>
      <p:sp>
        <p:nvSpPr>
          <p:cNvPr id="4" name="c1"/>
          <p:cNvSpPr/>
          <p:nvPr/>
        </p:nvSpPr>
        <p:spPr>
          <a:xfrm>
            <a:off x="914400" y="1879600"/>
            <a:ext cx="5080000" cy="1905000"/>
          </a:xfrm>
          <a:prstGeom prst="roundRect">
            <a:avLst>
              <a:gd name="adj" fmla="val 0.06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5" name="c1n"/>
          <p:cNvSpPr txBox="1"/>
          <p:nvPr/>
        </p:nvSpPr>
        <p:spPr>
          <a:xfrm>
            <a:off x="1168400" y="2108200"/>
            <a:ext cx="762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01</a:t>
            </a:r>
            <a:endParaRPr lang="en-US" sz="2200" noProof="1"/>
          </a:p>
        </p:txBody>
      </p:sp>
      <p:sp>
        <p:nvSpPr>
          <p:cNvPr id="6" name="c1t"/>
          <p:cNvSpPr txBox="1"/>
          <p:nvPr/>
        </p:nvSpPr>
        <p:spPr>
          <a:xfrm>
            <a:off x="1168400" y="2590800"/>
            <a:ext cx="457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800" noProof="1" b="1" i="0">
                <a:solidFill>
                  <a:srgbClr val="F2F7F7"/>
                </a:solidFill>
                <a:latin typeface="Noto Sans SC"/>
                <a:ea typeface="Noto Sans SC"/>
              </a:rPr>
              <a:t>MediaPipe CPU 推理 · 480×360</a:t>
            </a:r>
            <a:endParaRPr lang="en-US" sz="1800" noProof="1"/>
          </a:p>
        </p:txBody>
      </p:sp>
      <p:sp>
        <p:nvSpPr>
          <p:cNvPr id="7" name="c1d"/>
          <p:cNvSpPr txBox="1"/>
          <p:nvPr/>
        </p:nvSpPr>
        <p:spPr>
          <a:xfrm>
            <a:off x="1168400" y="30226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40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显式关闭 GPU 推理，规避部分显卡驱动崩溃；帧去重 + 结果防抖，手势稳而不飘</a:t>
            </a:r>
            <a:endParaRPr lang="en-US" sz="1200" noProof="1"/>
          </a:p>
        </p:txBody>
      </p:sp>
      <p:sp>
        <p:nvSpPr>
          <p:cNvPr id="8" name="c2"/>
          <p:cNvSpPr/>
          <p:nvPr/>
        </p:nvSpPr>
        <p:spPr>
          <a:xfrm>
            <a:off x="6299200" y="1879600"/>
            <a:ext cx="5080000" cy="1905000"/>
          </a:xfrm>
          <a:prstGeom prst="roundRect">
            <a:avLst>
              <a:gd name="adj" fmla="val 0.06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9" name="c2n"/>
          <p:cNvSpPr txBox="1"/>
          <p:nvPr/>
        </p:nvSpPr>
        <p:spPr>
          <a:xfrm>
            <a:off x="6553200" y="2108200"/>
            <a:ext cx="762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02</a:t>
            </a:r>
            <a:endParaRPr lang="en-US" sz="2200" noProof="1"/>
          </a:p>
        </p:txBody>
      </p:sp>
      <p:sp>
        <p:nvSpPr>
          <p:cNvPr id="10" name="c2t"/>
          <p:cNvSpPr txBox="1"/>
          <p:nvPr/>
        </p:nvSpPr>
        <p:spPr>
          <a:xfrm>
            <a:off x="6553200" y="2590800"/>
            <a:ext cx="457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800" noProof="1" b="1" i="0">
                <a:solidFill>
                  <a:srgbClr val="F2F7F7"/>
                </a:solidFill>
                <a:latin typeface="Noto Sans SC"/>
                <a:ea typeface="Noto Sans SC"/>
              </a:rPr>
              <a:t>双层 canvas 分离渲染</a:t>
            </a:r>
            <a:endParaRPr lang="en-US" sz="1800" noProof="1"/>
          </a:p>
        </p:txBody>
      </p:sp>
      <p:sp>
        <p:nvSpPr>
          <p:cNvPr id="11" name="c2d"/>
          <p:cNvSpPr txBox="1"/>
          <p:nvPr/>
        </p:nvSpPr>
        <p:spPr>
          <a:xfrm>
            <a:off x="6553200" y="30226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40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goo 滤镜层只画球体与融球桥接，独立层画光波细线——避免滤镜把透明细线二值化吃掉</a:t>
            </a:r>
            <a:endParaRPr lang="en-US" sz="1200" noProof="1"/>
          </a:p>
        </p:txBody>
      </p:sp>
      <p:sp>
        <p:nvSpPr>
          <p:cNvPr id="12" name="c3"/>
          <p:cNvSpPr/>
          <p:nvPr/>
        </p:nvSpPr>
        <p:spPr>
          <a:xfrm>
            <a:off x="914400" y="4089400"/>
            <a:ext cx="5080000" cy="1905000"/>
          </a:xfrm>
          <a:prstGeom prst="roundRect">
            <a:avLst>
              <a:gd name="adj" fmla="val 0.06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13" name="c3n"/>
          <p:cNvSpPr txBox="1"/>
          <p:nvPr/>
        </p:nvSpPr>
        <p:spPr>
          <a:xfrm>
            <a:off x="1168400" y="4318000"/>
            <a:ext cx="762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03</a:t>
            </a:r>
            <a:endParaRPr lang="en-US" sz="2200" noProof="1"/>
          </a:p>
        </p:txBody>
      </p:sp>
      <p:sp>
        <p:nvSpPr>
          <p:cNvPr id="14" name="c3t"/>
          <p:cNvSpPr txBox="1"/>
          <p:nvPr/>
        </p:nvSpPr>
        <p:spPr>
          <a:xfrm>
            <a:off x="1168400" y="4800600"/>
            <a:ext cx="457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800" noProof="1" b="1" i="0">
                <a:solidFill>
                  <a:srgbClr val="F2F7F7"/>
                </a:solidFill>
                <a:latin typeface="Noto Sans SC"/>
                <a:ea typeface="Noto Sans SC"/>
              </a:rPr>
              <a:t>合成 PointerEvent 复用鼠标链路</a:t>
            </a:r>
            <a:endParaRPr lang="en-US" sz="1800" noProof="1"/>
          </a:p>
        </p:txBody>
      </p:sp>
      <p:sp>
        <p:nvSpPr>
          <p:cNvPr id="15" name="c3d"/>
          <p:cNvSpPr txBox="1"/>
          <p:nvPr/>
        </p:nvSpPr>
        <p:spPr>
          <a:xfrm>
            <a:off x="1168400" y="52324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40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手势不另写一套交互：向关键球派发合成指针事件，拖动/抓取/双击与鼠标零分叉</a:t>
            </a:r>
            <a:endParaRPr lang="en-US" sz="1200" noProof="1"/>
          </a:p>
        </p:txBody>
      </p:sp>
      <p:sp>
        <p:nvSpPr>
          <p:cNvPr id="16" name="c4"/>
          <p:cNvSpPr/>
          <p:nvPr/>
        </p:nvSpPr>
        <p:spPr>
          <a:xfrm>
            <a:off x="6299200" y="4089400"/>
            <a:ext cx="5080000" cy="1905000"/>
          </a:xfrm>
          <a:prstGeom prst="roundRect">
            <a:avLst>
              <a:gd name="adj" fmla="val 0.06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17" name="c4n"/>
          <p:cNvSpPr txBox="1"/>
          <p:nvPr/>
        </p:nvSpPr>
        <p:spPr>
          <a:xfrm>
            <a:off x="6553200" y="4318000"/>
            <a:ext cx="762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04</a:t>
            </a:r>
            <a:endParaRPr lang="en-US" sz="2200" noProof="1"/>
          </a:p>
        </p:txBody>
      </p:sp>
      <p:sp>
        <p:nvSpPr>
          <p:cNvPr id="18" name="c4t"/>
          <p:cNvSpPr txBox="1"/>
          <p:nvPr/>
        </p:nvSpPr>
        <p:spPr>
          <a:xfrm>
            <a:off x="6553200" y="4800600"/>
            <a:ext cx="457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800" noProof="1" b="1" i="0">
                <a:solidFill>
                  <a:srgbClr val="F2F7F7"/>
                </a:solidFill>
                <a:latin typeface="Noto Sans SC"/>
                <a:ea typeface="Noto Sans SC"/>
              </a:rPr>
              <a:t>确定性布局与稳定簇 ID</a:t>
            </a:r>
            <a:endParaRPr lang="en-US" sz="1800" noProof="1"/>
          </a:p>
        </p:txBody>
      </p:sp>
      <p:sp>
        <p:nvSpPr>
          <p:cNvPr id="19" name="c4d"/>
          <p:cNvSpPr txBox="1"/>
          <p:nvPr/>
        </p:nvSpPr>
        <p:spPr>
          <a:xfrm>
            <a:off x="6553200" y="52324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40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新球黄金角螺旋找空位保证不重叠；结论簇 ID 由成员决定，刷新不重建不闪动</a:t>
            </a:r>
            <a:endParaRPr lang="en-US" sz="12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914400" y="5588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200" noProof="1" i="0">
                <a:solidFill>
                  <a:srgbClr val="8BA3A8"/>
                </a:solidFill>
                <a:latin typeface="Inter"/>
                <a:ea typeface="Inter"/>
              </a:rPr>
              <a:t>STABILITY · 10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914400" y="965200"/>
            <a:ext cx="990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F2F7F7"/>
                </a:solidFill>
                <a:latin typeface="Noto Sans SC"/>
                <a:ea typeface="Noto Sans SC"/>
              </a:rPr>
              <a:t>崩溃自检装甲：把黑屏变成可诊断的错误卡</a:t>
            </a:r>
            <a:endParaRPr lang="en-US" sz="3000" noProof="1"/>
          </a:p>
        </p:txBody>
      </p:sp>
      <p:sp>
        <p:nvSpPr>
          <p:cNvPr id="4" name="intro"/>
          <p:cNvSpPr txBox="1"/>
          <p:nvPr/>
        </p:nvSpPr>
        <p:spPr>
          <a:xfrm>
            <a:off x="914400" y="1625600"/>
            <a:ext cx="10363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50000"/>
              </a:lnSpc>
            </a:pPr>
            <a:r>
              <a:rPr lang="en-US" sz="1500" noProof="1">
                <a:solidFill>
                  <a:srgbClr val="C6D2D2"/>
                </a:solidFill>
                <a:latin typeface="Noto Sans SC"/>
                <a:ea typeface="Noto Sans SC"/>
              </a:rPr>
              <a:t>开发过程中真实出现过「点击语音按钮整页黑屏」——根因是识别重启定时器无清理导致 React DOM 协调崩溃。装甲让此类故障从此可见、可诊断、可自愈：</a:t>
            </a:r>
            <a:endParaRPr lang="en-US" sz="1500" noProof="1"/>
          </a:p>
        </p:txBody>
      </p:sp>
      <p:sp>
        <p:nvSpPr>
          <p:cNvPr id="5" name="a1"/>
          <p:cNvSpPr/>
          <p:nvPr/>
        </p:nvSpPr>
        <p:spPr>
          <a:xfrm>
            <a:off x="914400" y="2540000"/>
            <a:ext cx="3276600" cy="2794000"/>
          </a:xfrm>
          <a:prstGeom prst="roundRect">
            <a:avLst>
              <a:gd name="adj" fmla="val 0.05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6" name="a1n"/>
          <p:cNvSpPr txBox="1"/>
          <p:nvPr/>
        </p:nvSpPr>
        <p:spPr>
          <a:xfrm>
            <a:off x="1168400" y="2768600"/>
            <a:ext cx="127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01</a:t>
            </a:r>
            <a:endParaRPr lang="en-US" sz="2200" noProof="1"/>
          </a:p>
        </p:txBody>
      </p:sp>
      <p:sp>
        <p:nvSpPr>
          <p:cNvPr id="7" name="a1t"/>
          <p:cNvSpPr txBox="1"/>
          <p:nvPr/>
        </p:nvSpPr>
        <p:spPr>
          <a:xfrm>
            <a:off x="1168400" y="3251200"/>
            <a:ext cx="2768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800" noProof="1" b="1" i="0">
                <a:solidFill>
                  <a:srgbClr val="F2F7F7"/>
                </a:solidFill>
                <a:latin typeface="Noto Sans SC"/>
                <a:ea typeface="Noto Sans SC"/>
              </a:rPr>
              <a:t>双层错误边界</a:t>
            </a:r>
            <a:endParaRPr lang="en-US" sz="1800" noProof="1"/>
          </a:p>
        </p:txBody>
      </p:sp>
      <p:sp>
        <p:nvSpPr>
          <p:cNvPr id="8" name="a1d"/>
          <p:cNvSpPr txBox="1"/>
          <p:nvPr/>
        </p:nvSpPr>
        <p:spPr>
          <a:xfrm>
            <a:off x="1168400" y="3708400"/>
            <a:ext cx="2768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45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全局边界 + 手势坞局部边界：任何渲染异常都显示为带错误详情的卡片，手势坞崩了只换面板，画布与讨论不受影响</a:t>
            </a:r>
            <a:endParaRPr lang="en-US" sz="1200" noProof="1"/>
          </a:p>
        </p:txBody>
      </p:sp>
      <p:sp>
        <p:nvSpPr>
          <p:cNvPr id="9" name="a2"/>
          <p:cNvSpPr/>
          <p:nvPr/>
        </p:nvSpPr>
        <p:spPr>
          <a:xfrm>
            <a:off x="4457700" y="2540000"/>
            <a:ext cx="3276600" cy="2794000"/>
          </a:xfrm>
          <a:prstGeom prst="roundRect">
            <a:avLst>
              <a:gd name="adj" fmla="val 0.05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10" name="a2n"/>
          <p:cNvSpPr txBox="1"/>
          <p:nvPr/>
        </p:nvSpPr>
        <p:spPr>
          <a:xfrm>
            <a:off x="4711700" y="2768600"/>
            <a:ext cx="127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02</a:t>
            </a:r>
            <a:endParaRPr lang="en-US" sz="2200" noProof="1"/>
          </a:p>
        </p:txBody>
      </p:sp>
      <p:sp>
        <p:nvSpPr>
          <p:cNvPr id="11" name="a2t"/>
          <p:cNvSpPr txBox="1"/>
          <p:nvPr/>
        </p:nvSpPr>
        <p:spPr>
          <a:xfrm>
            <a:off x="4711700" y="3251200"/>
            <a:ext cx="2768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800" noProof="1" b="1" i="0">
                <a:solidFill>
                  <a:srgbClr val="F2F7F7"/>
                </a:solidFill>
                <a:latin typeface="Noto Sans SC"/>
                <a:ea typeface="Noto Sans SC"/>
              </a:rPr>
              <a:t>画布绘制自愈</a:t>
            </a:r>
            <a:endParaRPr lang="en-US" sz="1800" noProof="1"/>
          </a:p>
        </p:txBody>
      </p:sp>
      <p:sp>
        <p:nvSpPr>
          <p:cNvPr id="12" name="a2d"/>
          <p:cNvSpPr txBox="1"/>
          <p:nvPr/>
        </p:nvSpPr>
        <p:spPr>
          <a:xfrm>
            <a:off x="4711700" y="3708400"/>
            <a:ext cx="2768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45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绘制循环先排下一帧再绘制，单帧异常被跳过、渲染链不断；GPU 上下文丢失监听，驱动级崩溃也能自动恢复</a:t>
            </a:r>
            <a:endParaRPr lang="en-US" sz="1200" noProof="1"/>
          </a:p>
        </p:txBody>
      </p:sp>
      <p:sp>
        <p:nvSpPr>
          <p:cNvPr id="13" name="a3"/>
          <p:cNvSpPr/>
          <p:nvPr/>
        </p:nvSpPr>
        <p:spPr>
          <a:xfrm>
            <a:off x="8001000" y="2540000"/>
            <a:ext cx="3276600" cy="2794000"/>
          </a:xfrm>
          <a:prstGeom prst="roundRect">
            <a:avLst>
              <a:gd name="adj" fmla="val 0.05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14" name="a3n"/>
          <p:cNvSpPr txBox="1"/>
          <p:nvPr/>
        </p:nvSpPr>
        <p:spPr>
          <a:xfrm>
            <a:off x="8255000" y="2768600"/>
            <a:ext cx="127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03</a:t>
            </a:r>
            <a:endParaRPr lang="en-US" sz="2200" noProof="1"/>
          </a:p>
        </p:txBody>
      </p:sp>
      <p:sp>
        <p:nvSpPr>
          <p:cNvPr id="15" name="a3t"/>
          <p:cNvSpPr txBox="1"/>
          <p:nvPr/>
        </p:nvSpPr>
        <p:spPr>
          <a:xfrm>
            <a:off x="8255000" y="3251200"/>
            <a:ext cx="2768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800" noProof="1" b="1" i="0">
                <a:solidFill>
                  <a:srgbClr val="F2F7F7"/>
                </a:solidFill>
                <a:latin typeface="Noto Sans SC"/>
                <a:ea typeface="Noto Sans SC"/>
              </a:rPr>
              <a:t>心跳崩溃记录</a:t>
            </a:r>
            <a:endParaRPr lang="en-US" sz="1800" noProof="1"/>
          </a:p>
        </p:txBody>
      </p:sp>
      <p:sp>
        <p:nvSpPr>
          <p:cNvPr id="16" name="a3d"/>
          <p:cNvSpPr txBox="1"/>
          <p:nvPr/>
        </p:nvSpPr>
        <p:spPr>
          <a:xfrm>
            <a:off x="8255000" y="3708400"/>
            <a:ext cx="2768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45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每 3 秒心跳落盘；异常退出后刷新页面可见「上次会话异常退出」卡片与最后记录的错误，定位不再靠猜</a:t>
            </a:r>
            <a:endParaRPr lang="en-US" sz="1200" noProof="1"/>
          </a:p>
        </p:txBody>
      </p:sp>
      <p:sp>
        <p:nvSpPr>
          <p:cNvPr id="17" name="foot"/>
          <p:cNvSpPr txBox="1"/>
          <p:nvPr/>
        </p:nvSpPr>
        <p:spPr>
          <a:xfrm>
            <a:off x="914400" y="5740400"/>
            <a:ext cx="10363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400" noProof="1" i="0">
                <a:solidFill>
                  <a:srgbClr val="8BA3A8"/>
                </a:solidFill>
                <a:latin typeface="Noto Sans SC"/>
                <a:ea typeface="Noto Sans SC"/>
              </a:rPr>
              <a:t>实际效果：黑屏类故障从「不可见、不可复现」变为「可见错误卡 + 崩溃留痕」，两次线上问题均由该机制一次性定位根因</a:t>
            </a:r>
            <a:endParaRPr lang="en-US" sz="14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914400" y="5588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200" noProof="1" i="0">
                <a:solidFill>
                  <a:srgbClr val="8BA3A8"/>
                </a:solidFill>
                <a:latin typeface="Inter"/>
                <a:ea typeface="Inter"/>
              </a:rPr>
              <a:t>SCENARIOS · 11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9144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F2F7F7"/>
                </a:solidFill>
                <a:latin typeface="Noto Sans SC"/>
                <a:ea typeface="Noto Sans SC"/>
              </a:rPr>
              <a:t>四个典型场景，一套通用能力</a:t>
            </a:r>
            <a:endParaRPr lang="en-US" sz="3000" noProof="1"/>
          </a:p>
        </p:txBody>
      </p:sp>
      <p:sp>
        <p:nvSpPr>
          <p:cNvPr id="4" name="q1"/>
          <p:cNvSpPr/>
          <p:nvPr/>
        </p:nvSpPr>
        <p:spPr>
          <a:xfrm>
            <a:off x="914400" y="1879600"/>
            <a:ext cx="5080000" cy="1905000"/>
          </a:xfrm>
          <a:prstGeom prst="roundRect">
            <a:avLst>
              <a:gd name="adj" fmla="val 0.06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5" name="q1t"/>
          <p:cNvSpPr txBox="1"/>
          <p:nvPr/>
        </p:nvSpPr>
        <p:spPr>
          <a:xfrm>
            <a:off x="1219200" y="2184400"/>
            <a:ext cx="444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800" noProof="1" b="1" i="0">
                <a:solidFill>
                  <a:srgbClr val="F2F7F7"/>
                </a:solidFill>
                <a:latin typeface="Noto Sans SC"/>
                <a:ea typeface="Noto Sans SC"/>
              </a:rPr>
              <a:t>方案评审</a:t>
            </a:r>
            <a:endParaRPr lang="en-US" sz="1800" noProof="1"/>
          </a:p>
        </p:txBody>
      </p:sp>
      <p:sp>
        <p:nvSpPr>
          <p:cNvPr id="6" name="q1d"/>
          <p:cNvSpPr txBox="1"/>
          <p:nvPr/>
        </p:nvSpPr>
        <p:spPr>
          <a:xfrm>
            <a:off x="1219200" y="2667000"/>
            <a:ext cx="4445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45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技术、商业、风险多视角并行质询，结论卡片当场收敛，评审结束报告即出</a:t>
            </a:r>
            <a:endParaRPr lang="en-US" sz="1200" noProof="1"/>
          </a:p>
        </p:txBody>
      </p:sp>
      <p:sp>
        <p:nvSpPr>
          <p:cNvPr id="7" name="q2"/>
          <p:cNvSpPr/>
          <p:nvPr/>
        </p:nvSpPr>
        <p:spPr>
          <a:xfrm>
            <a:off x="6299200" y="1879600"/>
            <a:ext cx="5080000" cy="1905000"/>
          </a:xfrm>
          <a:prstGeom prst="roundRect">
            <a:avLst>
              <a:gd name="adj" fmla="val 0.06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8" name="q2t"/>
          <p:cNvSpPr txBox="1"/>
          <p:nvPr/>
        </p:nvSpPr>
        <p:spPr>
          <a:xfrm>
            <a:off x="6604000" y="2184400"/>
            <a:ext cx="444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800" noProof="1" b="1" i="0">
                <a:solidFill>
                  <a:srgbClr val="F2F7F7"/>
                </a:solidFill>
                <a:latin typeface="Noto Sans SC"/>
                <a:ea typeface="Noto Sans SC"/>
              </a:rPr>
              <a:t>课堂教学互动</a:t>
            </a:r>
            <a:endParaRPr lang="en-US" sz="1800" noProof="1"/>
          </a:p>
        </p:txBody>
      </p:sp>
      <p:sp>
        <p:nvSpPr>
          <p:cNvPr id="9" name="q2d"/>
          <p:cNvSpPr txBox="1"/>
          <p:nvPr/>
        </p:nvSpPr>
        <p:spPr>
          <a:xfrm>
            <a:off x="6604000" y="2667000"/>
            <a:ext cx="4445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45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教师隔空手势演示，不遮挡投影；学生观点实时上屏成为关键球</a:t>
            </a:r>
            <a:endParaRPr lang="en-US" sz="1200" noProof="1"/>
          </a:p>
        </p:txBody>
      </p:sp>
      <p:sp>
        <p:nvSpPr>
          <p:cNvPr id="10" name="q3"/>
          <p:cNvSpPr/>
          <p:nvPr/>
        </p:nvSpPr>
        <p:spPr>
          <a:xfrm>
            <a:off x="914400" y="4089400"/>
            <a:ext cx="5080000" cy="1905000"/>
          </a:xfrm>
          <a:prstGeom prst="roundRect">
            <a:avLst>
              <a:gd name="adj" fmla="val 0.06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11" name="q3t"/>
          <p:cNvSpPr txBox="1"/>
          <p:nvPr/>
        </p:nvSpPr>
        <p:spPr>
          <a:xfrm>
            <a:off x="1219200" y="4394200"/>
            <a:ext cx="444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800" noProof="1" b="1" i="0">
                <a:solidFill>
                  <a:srgbClr val="F2F7F7"/>
                </a:solidFill>
                <a:latin typeface="Noto Sans SC"/>
                <a:ea typeface="Noto Sans SC"/>
              </a:rPr>
              <a:t>产品决策</a:t>
            </a:r>
            <a:endParaRPr lang="en-US" sz="1800" noProof="1"/>
          </a:p>
        </p:txBody>
      </p:sp>
      <p:sp>
        <p:nvSpPr>
          <p:cNvPr id="12" name="q3d"/>
          <p:cNvSpPr txBox="1"/>
          <p:nvPr/>
        </p:nvSpPr>
        <p:spPr>
          <a:xfrm>
            <a:off x="1219200" y="4876800"/>
            <a:ext cx="4445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45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拖入数据文件各方研读，观点碰撞沉淀为可追溯的关系图谱与决策记录</a:t>
            </a:r>
            <a:endParaRPr lang="en-US" sz="1200" noProof="1"/>
          </a:p>
        </p:txBody>
      </p:sp>
      <p:sp>
        <p:nvSpPr>
          <p:cNvPr id="13" name="q4"/>
          <p:cNvSpPr/>
          <p:nvPr/>
        </p:nvSpPr>
        <p:spPr>
          <a:xfrm>
            <a:off x="6299200" y="4089400"/>
            <a:ext cx="5080000" cy="1905000"/>
          </a:xfrm>
          <a:prstGeom prst="roundRect">
            <a:avLst>
              <a:gd name="adj" fmla="val 0.06"/>
            </a:avLst>
          </a:prstGeom>
          <a:solidFill>
            <a:srgbClr val="182020"/>
          </a:solidFill>
          <a:ln w="12700">
            <a:solidFill>
              <a:srgbClr val="2A3A3A"/>
            </a:solidFill>
          </a:ln>
        </p:spPr>
      </p:sp>
      <p:sp>
        <p:nvSpPr>
          <p:cNvPr id="14" name="q4t"/>
          <p:cNvSpPr txBox="1"/>
          <p:nvPr/>
        </p:nvSpPr>
        <p:spPr>
          <a:xfrm>
            <a:off x="6604000" y="4394200"/>
            <a:ext cx="444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800" noProof="1" b="1" i="0">
                <a:solidFill>
                  <a:srgbClr val="F2F7F7"/>
                </a:solidFill>
                <a:latin typeface="Noto Sans SC"/>
                <a:ea typeface="Noto Sans SC"/>
              </a:rPr>
              <a:t>个人规划咨询</a:t>
            </a:r>
            <a:endParaRPr lang="en-US" sz="1800" noProof="1"/>
          </a:p>
        </p:txBody>
      </p:sp>
      <p:sp>
        <p:nvSpPr>
          <p:cNvPr id="15" name="q4d"/>
          <p:cNvSpPr txBox="1"/>
          <p:nvPr/>
        </p:nvSpPr>
        <p:spPr>
          <a:xfrm>
            <a:off x="6604000" y="4876800"/>
            <a:ext cx="4445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45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就业、选题、成长路径多方向碰撞——本页案例即来自真实议题「双非物联网学生如何保证就业」</a:t>
            </a:r>
            <a:endParaRPr lang="en-US" sz="1200" noProof="1"/>
          </a:p>
        </p:txBody>
      </p:sp>
      <p:sp>
        <p:nvSpPr>
          <p:cNvPr id="16" name="foot"/>
          <p:cNvSpPr txBox="1"/>
          <p:nvPr/>
        </p:nvSpPr>
        <p:spPr>
          <a:xfrm>
            <a:off x="914400" y="6223000"/>
            <a:ext cx="10363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400" noProof="1" i="0">
                <a:solidFill>
                  <a:srgbClr val="8BA3A8"/>
                </a:solidFill>
                <a:latin typeface="Noto Sans SC"/>
                <a:ea typeface="Noto Sans SC"/>
              </a:rPr>
              <a:t>一套平台覆盖创意、教研、决策与咨询类高频讨论场景</a:t>
            </a:r>
            <a:endParaRPr lang="en-US" sz="14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914400" y="558800"/>
            <a:ext cx="457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200" noProof="1" i="0">
                <a:solidFill>
                  <a:srgbClr val="8BA3A8"/>
                </a:solidFill>
                <a:latin typeface="Inter"/>
                <a:ea typeface="Inter"/>
              </a:rPr>
              <a:t>VALUE &amp; ROADMAP · 12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914400" y="9652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3000" noProof="1" b="1" i="0">
                <a:solidFill>
                  <a:srgbClr val="F2F7F7"/>
                </a:solidFill>
                <a:latin typeface="Noto Sans SC"/>
                <a:ea typeface="Noto Sans SC"/>
              </a:rPr>
              <a:t>价值与展望</a:t>
            </a:r>
            <a:endParaRPr lang="en-US" sz="3000" noProof="1"/>
          </a:p>
        </p:txBody>
      </p:sp>
      <p:sp>
        <p:nvSpPr>
          <p:cNvPr id="4" name="colL"/>
          <p:cNvSpPr txBox="1"/>
          <p:nvPr/>
        </p:nvSpPr>
        <p:spPr>
          <a:xfrm>
            <a:off x="914400" y="1778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5EEAD4"/>
                </a:solidFill>
                <a:latin typeface="Noto Sans SC"/>
                <a:ea typeface="Noto Sans SC"/>
              </a:rPr>
              <a:t>价值</a:t>
            </a:r>
            <a:endParaRPr lang="en-US" sz="1300" noProof="1"/>
          </a:p>
        </p:txBody>
      </p:sp>
      <p:sp>
        <p:nvSpPr>
          <p:cNvPr id="5" name="colR"/>
          <p:cNvSpPr txBox="1"/>
          <p:nvPr/>
        </p:nvSpPr>
        <p:spPr>
          <a:xfrm>
            <a:off x="6553200" y="1778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5EEAD4"/>
                </a:solidFill>
                <a:latin typeface="Noto Sans SC"/>
                <a:ea typeface="Noto Sans SC"/>
              </a:rPr>
              <a:t>展望</a:t>
            </a:r>
            <a:endParaRPr lang="en-US" sz="1300" noProof="1"/>
          </a:p>
        </p:txBody>
      </p:sp>
      <p:sp>
        <p:nvSpPr>
          <p:cNvPr id="6" name="v1n"/>
          <p:cNvSpPr txBox="1"/>
          <p:nvPr/>
        </p:nvSpPr>
        <p:spPr>
          <a:xfrm>
            <a:off x="914400" y="23622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01</a:t>
            </a:r>
            <a:endParaRPr lang="en-US" sz="2200" noProof="1"/>
          </a:p>
        </p:txBody>
      </p:sp>
      <p:sp>
        <p:nvSpPr>
          <p:cNvPr id="7" name="v1t"/>
          <p:cNvSpPr txBox="1"/>
          <p:nvPr/>
        </p:nvSpPr>
        <p:spPr>
          <a:xfrm>
            <a:off x="1625600" y="2387600"/>
            <a:ext cx="431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F2F7F7"/>
                </a:solidFill>
                <a:latin typeface="Noto Sans SC"/>
                <a:ea typeface="Noto Sans SC"/>
              </a:rPr>
              <a:t>讨论到决策，一条链路</a:t>
            </a:r>
            <a:endParaRPr lang="en-US" sz="1300" noProof="1"/>
          </a:p>
        </p:txBody>
      </p:sp>
      <p:sp>
        <p:nvSpPr>
          <p:cNvPr id="8" name="v1d"/>
          <p:cNvSpPr txBox="1"/>
          <p:nvPr/>
        </p:nvSpPr>
        <p:spPr>
          <a:xfrm>
            <a:off x="1625600" y="27686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40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收敛结论 + 一键导出报告，讨论结束即有可交付的决策记录</a:t>
            </a:r>
            <a:endParaRPr lang="en-US" sz="1200" noProof="1"/>
          </a:p>
        </p:txBody>
      </p:sp>
      <p:sp>
        <p:nvSpPr>
          <p:cNvPr id="9" name="v2n"/>
          <p:cNvSpPr txBox="1"/>
          <p:nvPr/>
        </p:nvSpPr>
        <p:spPr>
          <a:xfrm>
            <a:off x="914400" y="35560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02</a:t>
            </a:r>
            <a:endParaRPr lang="en-US" sz="2200" noProof="1"/>
          </a:p>
        </p:txBody>
      </p:sp>
      <p:sp>
        <p:nvSpPr>
          <p:cNvPr id="10" name="v2t"/>
          <p:cNvSpPr txBox="1"/>
          <p:nvPr/>
        </p:nvSpPr>
        <p:spPr>
          <a:xfrm>
            <a:off x="1625600" y="3581400"/>
            <a:ext cx="431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F2F7F7"/>
                </a:solidFill>
                <a:latin typeface="Noto Sans SC"/>
                <a:ea typeface="Noto Sans SC"/>
              </a:rPr>
              <a:t>隔空控场，人人都是主持人</a:t>
            </a:r>
            <a:endParaRPr lang="en-US" sz="1300" noProof="1"/>
          </a:p>
        </p:txBody>
      </p:sp>
      <p:sp>
        <p:nvSpPr>
          <p:cNvPr id="11" name="v2d"/>
          <p:cNvSpPr txBox="1"/>
          <p:nvPr/>
        </p:nvSpPr>
        <p:spPr>
          <a:xfrm>
            <a:off x="1625600" y="39624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40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手势与语音让演讲者离开键鼠也能驱动全场，参与门槛降到最低</a:t>
            </a:r>
            <a:endParaRPr lang="en-US" sz="1200" noProof="1"/>
          </a:p>
        </p:txBody>
      </p:sp>
      <p:sp>
        <p:nvSpPr>
          <p:cNvPr id="12" name="v3n"/>
          <p:cNvSpPr txBox="1"/>
          <p:nvPr/>
        </p:nvSpPr>
        <p:spPr>
          <a:xfrm>
            <a:off x="914400" y="47498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03</a:t>
            </a:r>
            <a:endParaRPr lang="en-US" sz="2200" noProof="1"/>
          </a:p>
        </p:txBody>
      </p:sp>
      <p:sp>
        <p:nvSpPr>
          <p:cNvPr id="13" name="v3t"/>
          <p:cNvSpPr txBox="1"/>
          <p:nvPr/>
        </p:nvSpPr>
        <p:spPr>
          <a:xfrm>
            <a:off x="1625600" y="4775200"/>
            <a:ext cx="431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F2F7F7"/>
                </a:solidFill>
                <a:latin typeface="Noto Sans SC"/>
                <a:ea typeface="Noto Sans SC"/>
              </a:rPr>
              <a:t>零门槛，浏览器即用</a:t>
            </a:r>
            <a:endParaRPr lang="en-US" sz="1300" noProof="1"/>
          </a:p>
        </p:txBody>
      </p:sp>
      <p:sp>
        <p:nvSpPr>
          <p:cNvPr id="14" name="v3d"/>
          <p:cNvSpPr txBox="1"/>
          <p:nvPr/>
        </p:nvSpPr>
        <p:spPr>
          <a:xfrm>
            <a:off x="1625600" y="51562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40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纯软件、免安装；演示模式不配置 API 也能完整体验全部功能</a:t>
            </a:r>
            <a:endParaRPr lang="en-US" sz="1200" noProof="1"/>
          </a:p>
        </p:txBody>
      </p:sp>
      <p:cxnSp>
        <p:nvCxnSpPr>
          <p:cNvPr id="15" name="mid"/>
          <p:cNvCxnSpPr/>
          <p:nvPr/>
        </p:nvCxnSpPr>
        <p:spPr>
          <a:xfrm>
            <a:off x="6070600" y="1905000"/>
            <a:ext cx="12700" cy="3810000"/>
          </a:xfrm>
          <a:prstGeom prst="straightConnector1">
            <a:avLst/>
          </a:prstGeom>
          <a:ln w="12700">
            <a:solidFill>
              <a:srgbClr val="2A3A3A"/>
            </a:solidFill>
          </a:ln>
        </p:spPr>
      </p:cxnSp>
      <p:sp>
        <p:nvSpPr>
          <p:cNvPr id="16" name="r1n"/>
          <p:cNvSpPr txBox="1"/>
          <p:nvPr/>
        </p:nvSpPr>
        <p:spPr>
          <a:xfrm>
            <a:off x="6553200" y="23622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01</a:t>
            </a:r>
            <a:endParaRPr lang="en-US" sz="2200" noProof="1"/>
          </a:p>
        </p:txBody>
      </p:sp>
      <p:sp>
        <p:nvSpPr>
          <p:cNvPr id="17" name="r1t"/>
          <p:cNvSpPr txBox="1"/>
          <p:nvPr/>
        </p:nvSpPr>
        <p:spPr>
          <a:xfrm>
            <a:off x="7264400" y="2387600"/>
            <a:ext cx="431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F2F7F7"/>
                </a:solidFill>
                <a:latin typeface="Noto Sans SC"/>
                <a:ea typeface="Noto Sans SC"/>
              </a:rPr>
              <a:t>多人实时协同房间</a:t>
            </a:r>
            <a:endParaRPr lang="en-US" sz="1300" noProof="1"/>
          </a:p>
        </p:txBody>
      </p:sp>
      <p:sp>
        <p:nvSpPr>
          <p:cNvPr id="18" name="r1d"/>
          <p:cNvSpPr txBox="1"/>
          <p:nvPr/>
        </p:nvSpPr>
        <p:spPr>
          <a:xfrm>
            <a:off x="7264400" y="27686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40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接入 WebSocket 同步后，异地参与者共享同一块画布与讨论流</a:t>
            </a:r>
            <a:endParaRPr lang="en-US" sz="1200" noProof="1"/>
          </a:p>
        </p:txBody>
      </p:sp>
      <p:sp>
        <p:nvSpPr>
          <p:cNvPr id="19" name="r2n"/>
          <p:cNvSpPr txBox="1"/>
          <p:nvPr/>
        </p:nvSpPr>
        <p:spPr>
          <a:xfrm>
            <a:off x="6553200" y="35560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02</a:t>
            </a:r>
            <a:endParaRPr lang="en-US" sz="2200" noProof="1"/>
          </a:p>
        </p:txBody>
      </p:sp>
      <p:sp>
        <p:nvSpPr>
          <p:cNvPr id="20" name="r2t"/>
          <p:cNvSpPr txBox="1"/>
          <p:nvPr/>
        </p:nvSpPr>
        <p:spPr>
          <a:xfrm>
            <a:off x="7264400" y="3581400"/>
            <a:ext cx="431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F2F7F7"/>
                </a:solidFill>
                <a:latin typeface="Noto Sans SC"/>
                <a:ea typeface="Noto Sans SC"/>
              </a:rPr>
              <a:t>模型插件化</a:t>
            </a:r>
            <a:endParaRPr lang="en-US" sz="1300" noProof="1"/>
          </a:p>
        </p:txBody>
      </p:sp>
      <p:sp>
        <p:nvSpPr>
          <p:cNvPr id="21" name="r2d"/>
          <p:cNvSpPr txBox="1"/>
          <p:nvPr/>
        </p:nvSpPr>
        <p:spPr>
          <a:xfrm>
            <a:off x="7264400" y="39624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40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统一 ChatProvider 接口，接入更多模型只需实现一个方法</a:t>
            </a:r>
            <a:endParaRPr lang="en-US" sz="1200" noProof="1"/>
          </a:p>
        </p:txBody>
      </p:sp>
      <p:sp>
        <p:nvSpPr>
          <p:cNvPr id="22" name="r3n"/>
          <p:cNvSpPr txBox="1"/>
          <p:nvPr/>
        </p:nvSpPr>
        <p:spPr>
          <a:xfrm>
            <a:off x="6553200" y="47498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2200" noProof="1" b="1" i="0">
                <a:solidFill>
                  <a:srgbClr val="5EEAD4"/>
                </a:solidFill>
                <a:latin typeface="Inter"/>
                <a:ea typeface="Inter"/>
              </a:rPr>
              <a:t>03</a:t>
            </a:r>
            <a:endParaRPr lang="en-US" sz="2200" noProof="1"/>
          </a:p>
        </p:txBody>
      </p:sp>
      <p:sp>
        <p:nvSpPr>
          <p:cNvPr id="23" name="r3t"/>
          <p:cNvSpPr txBox="1"/>
          <p:nvPr/>
        </p:nvSpPr>
        <p:spPr>
          <a:xfrm>
            <a:off x="7264400" y="4775200"/>
            <a:ext cx="431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300" noProof="1" b="1" i="0">
                <a:solidFill>
                  <a:srgbClr val="F2F7F7"/>
                </a:solidFill>
                <a:latin typeface="Noto Sans SC"/>
                <a:ea typeface="Noto Sans SC"/>
              </a:rPr>
              <a:t>多模态与多端</a:t>
            </a:r>
            <a:endParaRPr lang="en-US" sz="1300" noProof="1"/>
          </a:p>
        </p:txBody>
      </p:sp>
      <p:sp>
        <p:nvSpPr>
          <p:cNvPr id="24" name="r3d"/>
          <p:cNvSpPr txBox="1"/>
          <p:nvPr/>
        </p:nvSpPr>
        <p:spPr>
          <a:xfrm>
            <a:off x="7264400" y="51562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 marL="0">
              <a:lnSpc>
                <a:spcPct val="140000"/>
              </a:lnSpc>
            </a:pPr>
            <a:r>
              <a:rPr lang="en-US" sz="1200" noProof="1" i="0">
                <a:solidFill>
                  <a:srgbClr val="8BA3A8"/>
                </a:solidFill>
                <a:latin typeface="Noto Sans SC"/>
                <a:ea typeface="Noto Sans SC"/>
              </a:rPr>
              <a:t>深化图片/文档理解，适配移动端与投屏、头显等大屏幕场景</a:t>
            </a:r>
            <a:endParaRPr lang="en-US" sz="1200" noProof="1"/>
          </a:p>
        </p:txBody>
      </p:sp>
      <p:sp>
        <p:nvSpPr>
          <p:cNvPr id="25" name="repo"/>
          <p:cNvSpPr txBox="1"/>
          <p:nvPr/>
        </p:nvSpPr>
        <p:spPr>
          <a:xfrm>
            <a:off x="914400" y="5969000"/>
            <a:ext cx="103632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 marL="0">
              <a:lnSpc>
                <a:spcPct val="125000"/>
              </a:lnSpc>
            </a:pPr>
            <a:r>
              <a:rPr lang="en-US" sz="1400" noProof="1" i="0">
                <a:solidFill>
                  <a:srgbClr val="8BA3A8"/>
                </a:solidFill>
                <a:latin typeface="Noto Sans SC"/>
                <a:ea typeface="Noto Sans SC"/>
              </a:rPr>
              <a:t>开源地址：github.com/shxshx0802/SynapseBrain</a:t>
            </a:r>
            <a:endParaRPr lang="en-US" sz="14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bg-mask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D1117">
                  <a:alpha val="90196"/>
                </a:srgbClr>
              </a:gs>
              <a:gs pos="50000">
                <a:srgbClr val="0D1117">
                  <a:alpha val="70196"/>
                </a:srgbClr>
              </a:gs>
              <a:gs pos="100000">
                <a:srgbClr val="0D1117">
                  <a:alpha val="90196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1651000" y="2540000"/>
            <a:ext cx="8890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40000"/>
              </a:lnSpc>
            </a:pPr>
            <a:r>
              <a:rPr lang="en-US" sz="3200" noProof="1" b="1">
                <a:solidFill>
                  <a:srgbClr val="F2F7F7"/>
                </a:solidFill>
                <a:latin typeface="Noto Sans SC"/>
                <a:ea typeface="Noto Sans SC"/>
              </a:rPr>
              <a:t>让每一次讨论，都变成触手可及的共识</a:t>
            </a:r>
            <a:endParaRPr lang="en-US" sz="3200" noProof="1"/>
          </a:p>
        </p:txBody>
      </p:sp>
      <p:cxnSp>
        <p:nvCxnSpPr>
          <p:cNvPr id="5" name="line"/>
          <p:cNvCxnSpPr/>
          <p:nvPr/>
        </p:nvCxnSpPr>
        <p:spPr>
          <a:xfrm>
            <a:off x="5219700" y="4267200"/>
            <a:ext cx="1752600" cy="12700"/>
          </a:xfrm>
          <a:prstGeom prst="straightConnector1">
            <a:avLst/>
          </a:prstGeom>
          <a:ln w="25400">
            <a:solidFill>
              <a:srgbClr val="5EEAD4"/>
            </a:solidFill>
          </a:ln>
        </p:spPr>
      </p:cxnSp>
      <p:sp>
        <p:nvSpPr>
          <p:cNvPr id="6" name="sub"/>
          <p:cNvSpPr txBox="1"/>
          <p:nvPr/>
        </p:nvSpPr>
        <p:spPr>
          <a:xfrm>
            <a:off x="2286000" y="4546600"/>
            <a:ext cx="762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5000"/>
              </a:lnSpc>
            </a:pPr>
            <a:r>
              <a:rPr lang="en-US" sz="1700" noProof="1" b="1">
                <a:solidFill>
                  <a:srgbClr val="5EEAD4"/>
                </a:solidFill>
                <a:latin typeface="Noto Sans SC"/>
                <a:ea typeface="Noto Sans SC"/>
              </a:rPr>
              <a:t>SynapseBrain · 多 AI 协同讨论画布</a:t>
            </a:r>
            <a:endParaRPr lang="en-US" sz="1700" noProof="1"/>
          </a:p>
        </p:txBody>
      </p:sp>
      <p:sp>
        <p:nvSpPr>
          <p:cNvPr id="7" name="foot"/>
          <p:cNvSpPr txBox="1"/>
          <p:nvPr/>
        </p:nvSpPr>
        <p:spPr>
          <a:xfrm>
            <a:off x="2286000" y="59690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 marL="0">
              <a:lnSpc>
                <a:spcPct val="125000"/>
              </a:lnSpc>
            </a:pPr>
            <a:r>
              <a:rPr lang="en-US" sz="1400" noProof="1" i="0">
                <a:solidFill>
                  <a:srgbClr val="8BA3A8"/>
                </a:solidFill>
                <a:latin typeface="Noto Sans SC"/>
                <a:ea typeface="Noto Sans SC"/>
              </a:rPr>
              <a:t>感谢聆听 · 欢迎交流</a:t>
            </a:r>
            <a:endParaRPr lang="en-US" sz="14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13</Slides>
</Properties>
</file>

<file path=docProps/core.xml><?xml version="1.0" encoding="utf-8"?>
<cp:coreProperties xmlns:dc="http://purl.org/dc/elements/1.1/" xmlns:cp="http://schemas.openxmlformats.org/package/2006/metadata/core-properties">
  <dc:title>presentation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